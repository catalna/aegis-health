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spc="160">
                <a:solidFill>
                  <a:srgbClr val="007A70"/>
                </a:solidFill>
                <a:latin typeface="Arial"/>
              </a:rPr>
              <a:t>WORKFLOW AEGIS-HEALTH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365760"/>
            <a:ext cx="32095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 spc="160">
                <a:solidFill>
                  <a:srgbClr val="8A8780"/>
                </a:solidFill>
                <a:latin typeface="Arial"/>
              </a:rPr>
              <a:t>AEGIS-HEALTH · E-JAK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>
                <a:solidFill>
                  <a:srgbClr val="003171"/>
                </a:solidFill>
                <a:latin typeface="Arial"/>
              </a:rPr>
              <a:t>Dari input klaim hingga keputusan verifier BPJS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52144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55524B"/>
                </a:solidFill>
                <a:latin typeface="Inter"/>
              </a:rPr>
              <a:t>Delapan langkah dari input klaim sampai audit trail — keputusan akhir tetap di verifier BPJS.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517904"/>
            <a:ext cx="11055096" cy="0"/>
          </a:xfrm>
          <a:prstGeom prst="line">
            <a:avLst/>
          </a:prstGeom>
          <a:ln w="9525">
            <a:solidFill>
              <a:srgbClr val="E4E1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66928" y="1755648"/>
            <a:ext cx="2558719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874519"/>
            <a:ext cx="226611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100">
                <a:solidFill>
                  <a:srgbClr val="007A7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139696"/>
            <a:ext cx="226611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03171"/>
                </a:solidFill>
                <a:latin typeface="Arial"/>
              </a:rPr>
              <a:t>Input klaim di E-Klaim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688336"/>
            <a:ext cx="226611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55524B"/>
                </a:solidFill>
                <a:latin typeface="Inter"/>
              </a:rPr>
              <a:t>Diagnosis, tindakan, obat, lama rawat, biaya, dan dokumen pendukung.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99967" y="1755648"/>
            <a:ext cx="2558719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46271" y="1874519"/>
            <a:ext cx="226611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100">
                <a:solidFill>
                  <a:srgbClr val="007A70"/>
                </a:solidFill>
                <a:latin typeface="Arial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6271" y="2139696"/>
            <a:ext cx="226611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03171"/>
                </a:solidFill>
                <a:latin typeface="Arial"/>
              </a:rPr>
              <a:t>Klaim terkirim ke BPJS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6271" y="2688336"/>
            <a:ext cx="226611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55524B"/>
                </a:solidFill>
                <a:latin typeface="Inter"/>
              </a:rPr>
              <a:t>Klaim memiliki ID sumber dan waktu penerimaan.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3007" y="1755648"/>
            <a:ext cx="2558719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9311" y="1874519"/>
            <a:ext cx="226611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100">
                <a:solidFill>
                  <a:srgbClr val="007A70"/>
                </a:solidFill>
                <a:latin typeface="Arial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9311" y="2139696"/>
            <a:ext cx="226611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03171"/>
                </a:solidFill>
                <a:latin typeface="Arial"/>
              </a:rPr>
              <a:t>Klaim masuk ke AEGIS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9311" y="2688336"/>
            <a:ext cx="226611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55524B"/>
                </a:solidFill>
                <a:latin typeface="Inter"/>
              </a:rPr>
              <a:t>Dikonversi ke format klaim standar; provenance dicatat.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66047" y="1755648"/>
            <a:ext cx="2558719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12351" y="1874519"/>
            <a:ext cx="226611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100">
                <a:solidFill>
                  <a:srgbClr val="007A70"/>
                </a:solidFill>
                <a:latin typeface="Arial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12351" y="2139696"/>
            <a:ext cx="226611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03171"/>
                </a:solidFill>
                <a:latin typeface="Arial"/>
              </a:rPr>
              <a:t>Validasi otomatis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2351" y="2688336"/>
            <a:ext cx="226611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55524B"/>
                </a:solidFill>
                <a:latin typeface="Inter"/>
              </a:rPr>
              <a:t>Data quality, validasi tanggal &amp; field, cek duplikasi.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3822191"/>
            <a:ext cx="2558719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3941063"/>
            <a:ext cx="226611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100">
                <a:solidFill>
                  <a:srgbClr val="007A70"/>
                </a:solidFill>
                <a:latin typeface="Arial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4206240"/>
            <a:ext cx="226611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03171"/>
                </a:solidFill>
                <a:latin typeface="Arial"/>
              </a:rPr>
              <a:t>Tiga agen menganalisis paralel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754879"/>
            <a:ext cx="226611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55524B"/>
                </a:solidFill>
                <a:latin typeface="Inter"/>
              </a:rPr>
              <a:t>Clinical — diagnosis, severity, LOS.  Financial — benchmark, deviasi.  Pattern — similarity, unbundling.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99967" y="3822191"/>
            <a:ext cx="2558719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46271" y="3941063"/>
            <a:ext cx="226611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100">
                <a:solidFill>
                  <a:srgbClr val="007A70"/>
                </a:solidFill>
                <a:latin typeface="Arial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46271" y="4206240"/>
            <a:ext cx="226611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03171"/>
                </a:solidFill>
                <a:latin typeface="Arial"/>
              </a:rPr>
              <a:t>Hasil agen jadi evidence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46271" y="4754879"/>
            <a:ext cx="226611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55524B"/>
                </a:solidFill>
                <a:latin typeface="Inter"/>
              </a:rPr>
              <a:t>Coverage, sinyal yang saling mendukung, dan uncertainty.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3007" y="3822191"/>
            <a:ext cx="2558719" cy="1810512"/>
          </a:xfrm>
          <a:prstGeom prst="rect">
            <a:avLst/>
          </a:prstGeom>
          <a:solidFill>
            <a:srgbClr val="EFF6F5"/>
          </a:solidFill>
          <a:ln w="15875">
            <a:solidFill>
              <a:srgbClr val="007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79311" y="3941063"/>
            <a:ext cx="226611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100">
                <a:solidFill>
                  <a:srgbClr val="007A70"/>
                </a:solidFill>
                <a:latin typeface="Arial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9311" y="4206240"/>
            <a:ext cx="226611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03171"/>
                </a:solidFill>
                <a:latin typeface="Arial"/>
              </a:rPr>
              <a:t>Risk Engine menghitung prioritas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79311" y="4754879"/>
            <a:ext cx="226611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55524B"/>
                </a:solidFill>
                <a:latin typeface="Inter"/>
              </a:rPr>
              <a:t>Skor risiko 0–100, kategori High / Medium / Low, rekomendasi aksi.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79311" y="5321808"/>
            <a:ext cx="226611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spc="120">
                <a:solidFill>
                  <a:srgbClr val="007A70"/>
                </a:solidFill>
                <a:latin typeface="Arial"/>
              </a:rPr>
              <a:t>DETERMINISTIK · NON-LLM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66047" y="3822191"/>
            <a:ext cx="2558719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12351" y="3941063"/>
            <a:ext cx="226611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100">
                <a:solidFill>
                  <a:srgbClr val="007A70"/>
                </a:solidFill>
                <a:latin typeface="Arial"/>
              </a:rPr>
              <a:t>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12351" y="4206240"/>
            <a:ext cx="226611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03171"/>
                </a:solidFill>
                <a:latin typeface="Arial"/>
              </a:rPr>
              <a:t>Verifier memutuskan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12351" y="4754879"/>
            <a:ext cx="226611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55524B"/>
                </a:solidFill>
                <a:latin typeface="Inter"/>
              </a:rPr>
              <a:t>Valid · Klarifikasi · Eskalasi — tiap keputusan masuk audit trail.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3171367" y="2660904"/>
            <a:ext cx="182880" cy="0"/>
          </a:xfrm>
          <a:prstGeom prst="line">
            <a:avLst/>
          </a:prstGeom>
          <a:ln w="12700">
            <a:solidFill>
              <a:srgbClr val="B5B2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6004407" y="2660904"/>
            <a:ext cx="182880" cy="0"/>
          </a:xfrm>
          <a:prstGeom prst="line">
            <a:avLst/>
          </a:prstGeom>
          <a:ln w="12700">
            <a:solidFill>
              <a:srgbClr val="B5B2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837447" y="2660904"/>
            <a:ext cx="182880" cy="0"/>
          </a:xfrm>
          <a:prstGeom prst="line">
            <a:avLst/>
          </a:prstGeom>
          <a:ln w="12700">
            <a:solidFill>
              <a:srgbClr val="B5B2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3171367" y="4727448"/>
            <a:ext cx="182880" cy="0"/>
          </a:xfrm>
          <a:prstGeom prst="line">
            <a:avLst/>
          </a:prstGeom>
          <a:ln w="12700">
            <a:solidFill>
              <a:srgbClr val="B5B2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004407" y="4727448"/>
            <a:ext cx="182880" cy="0"/>
          </a:xfrm>
          <a:prstGeom prst="line">
            <a:avLst/>
          </a:prstGeom>
          <a:ln w="12700">
            <a:solidFill>
              <a:srgbClr val="B5B2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837447" y="4727448"/>
            <a:ext cx="182880" cy="0"/>
          </a:xfrm>
          <a:prstGeom prst="line">
            <a:avLst/>
          </a:prstGeom>
          <a:ln w="12700">
            <a:solidFill>
              <a:srgbClr val="B5B2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0345407" y="3584448"/>
            <a:ext cx="0" cy="109728"/>
          </a:xfrm>
          <a:prstGeom prst="line">
            <a:avLst/>
          </a:prstGeom>
          <a:ln w="12700">
            <a:solidFill>
              <a:srgbClr val="B5B2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1846287" y="3694176"/>
            <a:ext cx="8499120" cy="0"/>
          </a:xfrm>
          <a:prstGeom prst="line">
            <a:avLst/>
          </a:prstGeom>
          <a:ln w="12700">
            <a:solidFill>
              <a:srgbClr val="B5B2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846287" y="3694176"/>
            <a:ext cx="0" cy="91439"/>
          </a:xfrm>
          <a:prstGeom prst="line">
            <a:avLst/>
          </a:prstGeom>
          <a:ln w="12700">
            <a:solidFill>
              <a:srgbClr val="B5B2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345407" y="5650992"/>
            <a:ext cx="0" cy="256032"/>
          </a:xfrm>
          <a:prstGeom prst="line">
            <a:avLst/>
          </a:prstGeom>
          <a:ln w="12700">
            <a:solidFill>
              <a:srgbClr val="B5B2A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1846287" y="5907024"/>
            <a:ext cx="8499120" cy="0"/>
          </a:xfrm>
          <a:prstGeom prst="line">
            <a:avLst/>
          </a:prstGeom>
          <a:ln w="12700">
            <a:solidFill>
              <a:srgbClr val="B5B2A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1846287" y="5687568"/>
            <a:ext cx="0" cy="219456"/>
          </a:xfrm>
          <a:prstGeom prst="line">
            <a:avLst/>
          </a:prstGeom>
          <a:ln w="12700">
            <a:solidFill>
              <a:srgbClr val="B5B2A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4087368" y="5788152"/>
            <a:ext cx="402336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73152" rIns="73152" tIns="0" bIns="0">
            <a:spAutoFit/>
          </a:bodyPr>
          <a:lstStyle/>
          <a:p>
            <a:pPr algn="ctr"/>
            <a:r>
              <a:rPr sz="900" i="1">
                <a:solidFill>
                  <a:srgbClr val="8A8780"/>
                </a:solidFill>
                <a:latin typeface="Inter"/>
              </a:rPr>
              <a:t>Feedback keputusan verifier → evaluasi model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566928" y="6419088"/>
            <a:ext cx="11055096" cy="0"/>
          </a:xfrm>
          <a:prstGeom prst="line">
            <a:avLst/>
          </a:prstGeom>
          <a:ln w="9525">
            <a:solidFill>
              <a:srgbClr val="E4E1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66928" y="6492240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spc="140">
                <a:solidFill>
                  <a:srgbClr val="8A8780"/>
                </a:solidFill>
                <a:latin typeface="Arial"/>
              </a:rPr>
              <a:t>AEGIS-HEALTH · E-JAK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83680" y="6492240"/>
            <a:ext cx="50383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spc="140">
                <a:solidFill>
                  <a:srgbClr val="8A8780"/>
                </a:solidFill>
                <a:latin typeface="Arial"/>
              </a:rPr>
              <a:t>ALUR KERJA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