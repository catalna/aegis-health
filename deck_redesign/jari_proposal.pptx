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007A70"/>
                </a:solidFill>
                <a:latin typeface="Arial"/>
              </a:rPr>
              <a:t>HEALTHKATHON 2026 · EFISIENSI RISIKO FASILITAS KESEHATAN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365760"/>
            <a:ext cx="32122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 spc="160">
                <a:solidFill>
                  <a:srgbClr val="8A8780"/>
                </a:solidFill>
                <a:latin typeface="Arial"/>
              </a:rPr>
              <a:t>PROPOSAL SOLUSI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731520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1554480"/>
            <a:ext cx="73152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600" b="1" i="0">
                <a:solidFill>
                  <a:srgbClr val="003171"/>
                </a:solidFill>
                <a:latin typeface="Arial"/>
              </a:rPr>
              <a:t>J-ARI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9748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7A70"/>
                </a:solidFill>
                <a:latin typeface="Arial"/>
              </a:rPr>
              <a:t>JKN Agentic Risk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2461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2B2A27"/>
                </a:solidFill>
                <a:latin typeface="Inter"/>
              </a:rPr>
              <a:t>Detect the risk. Verify with evidence. Protect JKN.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794760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5524B"/>
                </a:solidFill>
                <a:latin typeface="Inter"/>
              </a:rPr>
              <a:t>Lapisan screening &amp; risk intelligence yang membantu verifier BPJS Kesehatan memprioritaskan klaim JKN yang paling perlu diperiksa lebih dahulu — disertai bukti yang dapat ditelusuri dan skor yang sepenuhnya deterministik.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074920"/>
            <a:ext cx="3017520" cy="475488"/>
          </a:xfrm>
          <a:prstGeom prst="rect">
            <a:avLst/>
          </a:prstGeom>
          <a:solidFill>
            <a:srgbClr val="EFF6F5"/>
          </a:solidFill>
          <a:ln w="15875">
            <a:solidFill>
              <a:srgbClr val="00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074920"/>
            <a:ext cx="30175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07A70"/>
                </a:solidFill>
                <a:latin typeface="Inter"/>
              </a:rPr>
              <a:t>Fokus: Upcoding &amp; Unbundling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67328" y="5074920"/>
            <a:ext cx="4160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7328" y="5074920"/>
            <a:ext cx="41605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5524B"/>
                </a:solidFill>
                <a:latin typeface="Inter"/>
              </a:rPr>
              <a:t>Sinyal pendukung: cloning · repeat · phantom · inflated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0727" y="5074920"/>
            <a:ext cx="350215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0727" y="5074920"/>
            <a:ext cx="350215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5524B"/>
                </a:solidFill>
                <a:latin typeface="Inter"/>
              </a:rPr>
              <a:t>Data sintetis ber-label · Human-in-the-loop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89788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8780"/>
                </a:solidFill>
                <a:latin typeface="Inter"/>
              </a:rPr>
              <a:t>Kategori: Efisiensi Risiko Fasilitas Kesehatan — Kemenkes RI × BPJS Kesehatan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8" y="6419088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6928" y="649224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40">
                <a:solidFill>
                  <a:srgbClr val="8A8780"/>
                </a:solidFill>
                <a:latin typeface="Arial"/>
              </a:rPr>
              <a:t>J-ARI · JKN AGENTIC RISK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6492240"/>
            <a:ext cx="50410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140">
                <a:solidFill>
                  <a:srgbClr val="8A8780"/>
                </a:solidFill>
                <a:latin typeface="Arial"/>
              </a:rPr>
              <a:t>HEALTHKATHON 2026 · 01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007A70"/>
                </a:solidFill>
                <a:latin typeface="Arial"/>
              </a:rPr>
              <a:t>MASALAH &amp; URGENSI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65760"/>
            <a:ext cx="41266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 spc="160">
                <a:solidFill>
                  <a:srgbClr val="8A8780"/>
                </a:solidFill>
                <a:latin typeface="Arial"/>
              </a:rPr>
              <a:t>J-ARI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03171"/>
                </a:solidFill>
                <a:latin typeface="Arial"/>
              </a:rPr>
              <a:t>Klaim tumbuh jauh lebih cepat daripada kapasitas verifikasi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52144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24B"/>
                </a:solidFill>
                <a:latin typeface="Inter"/>
              </a:rPr>
              <a:t>Program JKN terbesar di dunia dikelola dengan pemeriksaan klaim yang masih menyentuh setiap berkas secara manual.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17904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419088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9224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40">
                <a:solidFill>
                  <a:srgbClr val="8A8780"/>
                </a:solidFill>
                <a:latin typeface="Arial"/>
              </a:rPr>
              <a:t>J-ARI · JKN AGENTIC RISK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6492240"/>
            <a:ext cx="50410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140">
                <a:solidFill>
                  <a:srgbClr val="8A8780"/>
                </a:solidFill>
                <a:latin typeface="Arial"/>
              </a:rPr>
              <a:t>HEALTHKATHON 2026 · 02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37360"/>
            <a:ext cx="2572435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83664"/>
            <a:ext cx="224325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03171"/>
                </a:solidFill>
                <a:latin typeface="Arial"/>
              </a:rPr>
              <a:t>282,7 jt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50591"/>
            <a:ext cx="224325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peserta JKN aktif — hampir seluruh penduduk Indonesia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80944"/>
            <a:ext cx="224325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1">
                <a:solidFill>
                  <a:srgbClr val="8A8780"/>
                </a:solidFill>
                <a:latin typeface="Inter"/>
              </a:rPr>
              <a:t>Sumber: BPJS Kesehatan,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5395" y="1737360"/>
            <a:ext cx="2572435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9987" y="1883664"/>
            <a:ext cx="224325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03171"/>
                </a:solidFill>
                <a:latin typeface="Arial"/>
              </a:rPr>
              <a:t>Rp 191,3 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9987" y="2450591"/>
            <a:ext cx="224325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pembayaran klaim layanan kesehatan sepanjang 2025; rasio klaim 108,27% — pengeluaran melebihi iuran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9987" y="2980944"/>
            <a:ext cx="224325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1">
                <a:solidFill>
                  <a:srgbClr val="8A8780"/>
                </a:solidFill>
                <a:latin typeface="Inter"/>
              </a:rPr>
              <a:t>Sumber: BPJS Kesehatan,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3863" y="1737360"/>
            <a:ext cx="2572435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8455" y="1883664"/>
            <a:ext cx="224325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03171"/>
                </a:solidFill>
                <a:latin typeface="Arial"/>
              </a:rPr>
              <a:t>±Rp 6 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8455" y="2450591"/>
            <a:ext cx="224325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estimasi kerugian fraud bidang kesehatan per tahun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8455" y="2980944"/>
            <a:ext cx="224325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1">
                <a:solidFill>
                  <a:srgbClr val="8A8780"/>
                </a:solidFill>
                <a:latin typeface="Inter"/>
              </a:rPr>
              <a:t>Dirut BPJS Kesehatan, Juli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331" y="1737360"/>
            <a:ext cx="2572435" cy="1572768"/>
          </a:xfrm>
          <a:prstGeom prst="rect">
            <a:avLst/>
          </a:prstGeom>
          <a:solidFill>
            <a:srgbClr val="EFF6F5"/>
          </a:solidFill>
          <a:ln w="15875">
            <a:solidFill>
              <a:srgbClr val="00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6923" y="1883664"/>
            <a:ext cx="224325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07A70"/>
                </a:solidFill>
                <a:latin typeface="Arial"/>
              </a:rPr>
              <a:t>Rp 34 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6923" y="2450591"/>
            <a:ext cx="224325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dugaan fraud klaim di 6 RS (Sumut &amp; Jateng) yang ditelusuri KPK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6923" y="2980944"/>
            <a:ext cx="224325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1">
                <a:solidFill>
                  <a:srgbClr val="8A8780"/>
                </a:solidFill>
                <a:latin typeface="Inter"/>
              </a:rPr>
              <a:t>KPK, 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703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3171"/>
                </a:solidFill>
                <a:latin typeface="Arial"/>
              </a:rPr>
              <a:t>Yang terjadi di lapangan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4087368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7A70"/>
                </a:solidFill>
                <a:latin typeface="Arial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4105655"/>
            <a:ext cx="106006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524B"/>
                </a:solidFill>
                <a:latin typeface="Inter"/>
              </a:rPr>
              <a:t>Verifier harus menelaah jutaan klaim per tahun dengan kedalaman yang sama — klaim berisiko tinggi bisa terlewat di antara tumpukan klaim yang sah.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48006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7A70"/>
                </a:solidFill>
                <a:latin typeface="Arial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" y="4818888"/>
            <a:ext cx="106006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524B"/>
                </a:solidFill>
                <a:latin typeface="Inter"/>
              </a:rPr>
              <a:t>Pola manipulasi hanya terlihat ketika klaim dibandingkan lintas pasien, faskes, dokter, dan waktu — bukan saat berkas dibaca satu per satu.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513832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7A70"/>
                </a:solidFill>
                <a:latin typeface="Arial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" y="5532120"/>
            <a:ext cx="106006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524B"/>
                </a:solidFill>
                <a:latin typeface="Inter"/>
              </a:rPr>
              <a:t>Setiap bulan deteksi berarti dana jaminan sudah keluar; setiap tuduhan yang keliru justru merugikan faskes yang legitimate. Prioritisasi harus akurat dan berbasis bukti.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59893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A8780"/>
                </a:solidFill>
                <a:latin typeface="Inter"/>
              </a:rPr>
              <a:t>Masalah dibingkai sebagai efisiensi &amp; integritas sistem — bukan tuduhan terhadap faskes.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007A70"/>
                </a:solidFill>
                <a:latin typeface="Arial"/>
              </a:rPr>
              <a:t>MASALAH &amp; URGENSI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65760"/>
            <a:ext cx="41266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 spc="160">
                <a:solidFill>
                  <a:srgbClr val="8A8780"/>
                </a:solidFill>
                <a:latin typeface="Arial"/>
              </a:rPr>
              <a:t>J-ARI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03171"/>
                </a:solidFill>
                <a:latin typeface="Arial"/>
              </a:rPr>
              <a:t>Pola risiko tidak terlihat dari satu klaim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52144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24B"/>
                </a:solidFill>
                <a:latin typeface="Inter"/>
              </a:rPr>
              <a:t>INA-CBG membayar per kelompok diagnosis — input grouper menentukan tarif, dan justru di situlah risiko manipulasi berada.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17904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419088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9224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40">
                <a:solidFill>
                  <a:srgbClr val="8A8780"/>
                </a:solidFill>
                <a:latin typeface="Arial"/>
              </a:rPr>
              <a:t>J-ARI · JKN AGENTIC RISK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6492240"/>
            <a:ext cx="50410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140">
                <a:solidFill>
                  <a:srgbClr val="8A8780"/>
                </a:solidFill>
                <a:latin typeface="Arial"/>
              </a:rPr>
              <a:t>HEALTHKATHON 2026 · 03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83080"/>
            <a:ext cx="48463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050" b="1" i="0">
                <a:solidFill>
                  <a:srgbClr val="003171"/>
                </a:solidFill>
                <a:latin typeface="Arial"/>
              </a:rPr>
              <a:t>Input grouper = target manipulasi.  </a:t>
            </a:r>
            <a:r>
              <a:rPr sz="1050" b="0" i="0">
                <a:solidFill>
                  <a:srgbClr val="55524B"/>
                </a:solidFill>
                <a:latin typeface="Inter"/>
              </a:rPr>
              <a:t>Severity level, diagnosis sekunder, dan prosedur menentukan kelompok INA-CBG dan tarifnya. Menaikkan input tanpa bukti klinis = klaim naik.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050" b="1" i="0">
                <a:solidFill>
                  <a:srgbClr val="003171"/>
                </a:solidFill>
                <a:latin typeface="Arial"/>
              </a:rPr>
              <a:t>Kesalahan ≠ kecurangan.  </a:t>
            </a:r>
            <a:r>
              <a:rPr sz="1050" b="0" i="0">
                <a:solidFill>
                  <a:srgbClr val="55524B"/>
                </a:solidFill>
                <a:latin typeface="Inter"/>
              </a:rPr>
              <a:t>Banyak anomali adalah error coding; konteks klinis tidak selalu tampak dari data klaim. Sistem harus memberi prioritas, bukan vonis.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050" b="1" i="0">
                <a:solidFill>
                  <a:srgbClr val="003171"/>
                </a:solidFill>
                <a:latin typeface="Arial"/>
              </a:rPr>
              <a:t>Verifikasi seragam tidak skalabel.  </a:t>
            </a:r>
            <a:r>
              <a:rPr sz="1050" b="0" i="0">
                <a:solidFill>
                  <a:srgbClr val="55524B"/>
                </a:solidFill>
                <a:latin typeface="Inter"/>
              </a:rPr>
              <a:t>Memeriksa semua klaim sama rata berarti tidak ada yang diperiksa mendalam. Sumber daya terbatas harus diarahkan ke risiko tertinggi.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24728" y="1783080"/>
            <a:ext cx="5800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3171"/>
                </a:solidFill>
                <a:latin typeface="Arial"/>
              </a:rPr>
              <a:t>Tujuh pola risiko yang dicari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24728" y="2167128"/>
            <a:ext cx="5800039" cy="457200"/>
          </a:xfrm>
          <a:prstGeom prst="rect">
            <a:avLst/>
          </a:prstGeom>
          <a:solidFill>
            <a:srgbClr val="EFF6F5"/>
          </a:solidFill>
          <a:ln w="15875">
            <a:solidFill>
              <a:srgbClr val="00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52744" y="2212848"/>
            <a:ext cx="777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120">
                <a:solidFill>
                  <a:srgbClr val="007A70"/>
                </a:solidFill>
                <a:latin typeface="Arial"/>
              </a:rPr>
              <a:t>FOKUS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7416" y="221284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 i="0">
                <a:solidFill>
                  <a:srgbClr val="003171"/>
                </a:solidFill>
                <a:latin typeface="Arial"/>
              </a:rPr>
              <a:t>Upcoding / severity inflation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53144" y="2212848"/>
            <a:ext cx="234360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24B"/>
                </a:solidFill>
                <a:latin typeface="Inter"/>
              </a:rPr>
              <a:t>severity 2→3/4 tanpa bukti; diagnosis sekunder “komplikasi” fiktif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24728" y="2702052"/>
            <a:ext cx="5800039" cy="457200"/>
          </a:xfrm>
          <a:prstGeom prst="rect">
            <a:avLst/>
          </a:prstGeom>
          <a:solidFill>
            <a:srgbClr val="EFF6F5"/>
          </a:solidFill>
          <a:ln w="15875">
            <a:solidFill>
              <a:srgbClr val="00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2744" y="2747772"/>
            <a:ext cx="777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120">
                <a:solidFill>
                  <a:srgbClr val="007A70"/>
                </a:solidFill>
                <a:latin typeface="Arial"/>
              </a:rPr>
              <a:t>FOKUS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7416" y="274777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 i="0">
                <a:solidFill>
                  <a:srgbClr val="003171"/>
                </a:solidFill>
                <a:latin typeface="Arial"/>
              </a:rPr>
              <a:t>Unbundling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3144" y="2747772"/>
            <a:ext cx="234360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24B"/>
                </a:solidFill>
                <a:latin typeface="Inter"/>
              </a:rPr>
              <a:t>satu paket INA-CBG dipecah menjadi beberapa klaim terpisah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24728" y="3236976"/>
            <a:ext cx="580003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52744" y="336499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 i="0">
                <a:solidFill>
                  <a:srgbClr val="003171"/>
                </a:solidFill>
                <a:latin typeface="Arial"/>
              </a:rPr>
              <a:t>Cloning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3364992"/>
            <a:ext cx="31482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24B"/>
                </a:solidFill>
                <a:latin typeface="Inter"/>
              </a:rPr>
              <a:t>klaim disalin antar pasien di faskes yang sama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24728" y="3771900"/>
            <a:ext cx="580003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52744" y="3899915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 i="0">
                <a:solidFill>
                  <a:srgbClr val="003171"/>
                </a:solidFill>
                <a:latin typeface="Arial"/>
              </a:rPr>
              <a:t>Repeat billing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1" y="3899915"/>
            <a:ext cx="31482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24B"/>
                </a:solidFill>
                <a:latin typeface="Inter"/>
              </a:rPr>
              <a:t>episode yang sama ditagih ulang dalam &lt;45 hari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24728" y="4306824"/>
            <a:ext cx="580003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52744" y="44348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 i="0">
                <a:solidFill>
                  <a:srgbClr val="003171"/>
                </a:solidFill>
                <a:latin typeface="Arial"/>
              </a:rPr>
              <a:t>Phantom billing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1" y="4434840"/>
            <a:ext cx="31482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24B"/>
                </a:solidFill>
                <a:latin typeface="Inter"/>
              </a:rPr>
              <a:t>menagih tindakan yang tidak pernah dilakukan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24728" y="4841748"/>
            <a:ext cx="580003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52744" y="4969764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 i="0">
                <a:solidFill>
                  <a:srgbClr val="003171"/>
                </a:solidFill>
                <a:latin typeface="Arial"/>
              </a:rPr>
              <a:t>Inflated bill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1" y="4969764"/>
            <a:ext cx="31482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24B"/>
                </a:solidFill>
                <a:latin typeface="Inter"/>
              </a:rPr>
              <a:t>biaya jauh di atas pembanding sejenis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24728" y="5376672"/>
            <a:ext cx="580003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52744" y="550468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 i="0">
                <a:solidFill>
                  <a:srgbClr val="003171"/>
                </a:solidFill>
                <a:latin typeface="Arial"/>
              </a:rPr>
              <a:t>Prolonged LOS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5504688"/>
            <a:ext cx="31482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24B"/>
                </a:solidFill>
                <a:latin typeface="Inter"/>
              </a:rPr>
              <a:t>hari rawat &gt; 2× batas atas rata-rata klinis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007A70"/>
                </a:solidFill>
                <a:latin typeface="Arial"/>
              </a:rPr>
              <a:t>IDENTITAS &amp;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65760"/>
            <a:ext cx="41266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 spc="160">
                <a:solidFill>
                  <a:srgbClr val="8A8780"/>
                </a:solidFill>
                <a:latin typeface="Arial"/>
              </a:rPr>
              <a:t>J-ARI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03171"/>
                </a:solidFill>
                <a:latin typeface="Arial"/>
              </a:rPr>
              <a:t>J-ARI — lapisan intelijen di atas data klaim, bukan sistem baru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52144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24B"/>
                </a:solidFill>
                <a:latin typeface="Inter"/>
              </a:rPr>
              <a:t>J-ARI tidak menyentuh sistem pembayaran; ia mengurutkan klaim yang sudah masuk dan menjelaskan alasannya.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17904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419088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9224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40">
                <a:solidFill>
                  <a:srgbClr val="8A8780"/>
                </a:solidFill>
                <a:latin typeface="Arial"/>
              </a:rPr>
              <a:t>J-ARI · JKN AGENTIC RISK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6492240"/>
            <a:ext cx="50410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140">
                <a:solidFill>
                  <a:srgbClr val="8A8780"/>
                </a:solidFill>
                <a:latin typeface="Arial"/>
              </a:rPr>
              <a:t>HEALTHKATHON 2026 · 04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828800"/>
            <a:ext cx="2048256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97510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003171"/>
                </a:solidFill>
                <a:latin typeface="Arial"/>
              </a:rPr>
              <a:t>Faskes / E-Klaim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186537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5524B"/>
                </a:solidFill>
                <a:latin typeface="Inter"/>
              </a:rPr>
              <a:t>klaim masuk dari upstream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42616" y="2249424"/>
            <a:ext cx="201168" cy="0"/>
          </a:xfrm>
          <a:prstGeom prst="line">
            <a:avLst/>
          </a:prstGeom>
          <a:ln w="12700">
            <a:solidFill>
              <a:srgbClr val="B5B2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871216" y="1828800"/>
            <a:ext cx="2048256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80944" y="197510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003171"/>
                </a:solidFill>
                <a:latin typeface="Arial"/>
              </a:rPr>
              <a:t>Sistem klaim BPJS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2656" y="2286000"/>
            <a:ext cx="186537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5524B"/>
                </a:solidFill>
                <a:latin typeface="Inter"/>
              </a:rPr>
              <a:t>Vclaim · SEP · e-klaim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46904" y="2249424"/>
            <a:ext cx="201168" cy="0"/>
          </a:xfrm>
          <a:prstGeom prst="line">
            <a:avLst/>
          </a:prstGeom>
          <a:ln w="12700">
            <a:solidFill>
              <a:srgbClr val="B5B2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175504" y="1828800"/>
            <a:ext cx="2048256" cy="841248"/>
          </a:xfrm>
          <a:prstGeom prst="rect">
            <a:avLst/>
          </a:prstGeom>
          <a:solidFill>
            <a:srgbClr val="EFF6F5"/>
          </a:solidFill>
          <a:ln w="15875">
            <a:solidFill>
              <a:srgbClr val="00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85232" y="19202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003171"/>
                </a:solidFill>
                <a:latin typeface="Arial"/>
              </a:rPr>
              <a:t>J-ARI screening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6944" y="2304288"/>
            <a:ext cx="186537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5524B"/>
                </a:solidFill>
                <a:latin typeface="Inter"/>
              </a:rPr>
              <a:t>validasi · 3 sinyal · skor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51192" y="2249424"/>
            <a:ext cx="201168" cy="0"/>
          </a:xfrm>
          <a:prstGeom prst="line">
            <a:avLst/>
          </a:prstGeom>
          <a:ln w="12700">
            <a:solidFill>
              <a:srgbClr val="B5B2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479792" y="1828800"/>
            <a:ext cx="2048256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197510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003171"/>
                </a:solidFill>
                <a:latin typeface="Arial"/>
              </a:rPr>
              <a:t>Priority queue +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1232" y="2286000"/>
            <a:ext cx="186537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5524B"/>
                </a:solidFill>
                <a:latin typeface="Inter"/>
              </a:rPr>
              <a:t>High / Medium / Low + alasan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555480" y="2249424"/>
            <a:ext cx="201168" cy="0"/>
          </a:xfrm>
          <a:prstGeom prst="line">
            <a:avLst/>
          </a:prstGeom>
          <a:ln w="12700">
            <a:solidFill>
              <a:srgbClr val="B5B2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784080" y="1828800"/>
            <a:ext cx="2048256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93808" y="197510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003171"/>
                </a:solidFill>
                <a:latin typeface="Arial"/>
              </a:rPr>
              <a:t>Verifier memutuskan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286000"/>
            <a:ext cx="186537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5524B"/>
                </a:solidFill>
                <a:latin typeface="Inter"/>
              </a:rPr>
              <a:t>keputusan &amp; audit trail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063240"/>
            <a:ext cx="11057839" cy="960120"/>
          </a:xfrm>
          <a:prstGeom prst="rect">
            <a:avLst/>
          </a:prstGeom>
          <a:solidFill>
            <a:srgbClr val="EFF6F5"/>
          </a:solidFill>
          <a:ln w="15875">
            <a:solidFill>
              <a:srgbClr val="00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32004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007A70"/>
                </a:solidFill>
                <a:latin typeface="Arial"/>
              </a:rPr>
              <a:t>POSISI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3438144"/>
            <a:ext cx="10692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B2A27"/>
                </a:solidFill>
                <a:latin typeface="Inter"/>
              </a:rPr>
              <a:t>“J-ARI membantu verifier BPJS memprioritaskan klaim JKN yang paling perlu diperiksa dengan menggabungkan sinyal klinis, reimbursement, dan pola historis ke dalam skor risiko yang transparan serta bukti yang dapat ditelusuri.”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224528"/>
            <a:ext cx="1105783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33425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8A8780"/>
                </a:solidFill>
                <a:latin typeface="Arial"/>
              </a:rPr>
              <a:t>BATASAN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4553712"/>
            <a:ext cx="10692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524B"/>
                </a:solidFill>
                <a:latin typeface="Inter"/>
              </a:rPr>
              <a:t>Tidak menggantikan sistem klaim BPJS  ·  tidak menggantikan verifier  ·  tidak memvonis fraud — output tertinggi: “high risk, perlu verifikasi”.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13892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3171"/>
                </a:solidFill>
                <a:latin typeface="Arial"/>
              </a:rPr>
              <a:t>Bagi verifier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52928" y="514807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524B"/>
                </a:solidFill>
                <a:latin typeface="Inter"/>
              </a:rPr>
              <a:t>fokus waktu pada klaim paling berisiko, dengan alasan siap kutip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550468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3171"/>
                </a:solidFill>
                <a:latin typeface="Arial"/>
              </a:rPr>
              <a:t>Bagi tim investigasi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52928" y="551383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524B"/>
                </a:solidFill>
                <a:latin typeface="Inter"/>
              </a:rPr>
              <a:t>pola antar-klaim, preseden serupa, dan jejak audit lengkap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587044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3171"/>
                </a:solidFill>
                <a:latin typeface="Arial"/>
              </a:rPr>
              <a:t>Bagi faskes &amp; peserta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52928" y="587959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524B"/>
                </a:solidFill>
                <a:latin typeface="Inter"/>
              </a:rPr>
              <a:t>klarifikasi lebih tepat sasaran; dana jaminan terlindungi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007A70"/>
                </a:solidFill>
                <a:latin typeface="Arial"/>
              </a:rPr>
              <a:t>SOLUSI &amp; KEUNGGULAN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65760"/>
            <a:ext cx="41266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 spc="160">
                <a:solidFill>
                  <a:srgbClr val="8A8780"/>
                </a:solidFill>
                <a:latin typeface="Arial"/>
              </a:rPr>
              <a:t>J-ARI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03171"/>
                </a:solidFill>
                <a:latin typeface="Arial"/>
              </a:rPr>
              <a:t>Verifier menerima antrian yang sudah diurutkan — lengkap alasannya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52144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24B"/>
                </a:solidFill>
                <a:latin typeface="Inter"/>
              </a:rPr>
              <a:t>Dalam 30 detik membaca satu halaman, verifier tahu klaim mana yang dibuka lebih dulu dan mengapa.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17904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419088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9224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40">
                <a:solidFill>
                  <a:srgbClr val="8A8780"/>
                </a:solidFill>
                <a:latin typeface="Arial"/>
              </a:rPr>
              <a:t>J-ARI · JKN AGENTIC RISK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6492240"/>
            <a:ext cx="50410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140">
                <a:solidFill>
                  <a:srgbClr val="8A8780"/>
                </a:solidFill>
                <a:latin typeface="Arial"/>
              </a:rPr>
              <a:t>HEALTHKATHON 2026 · 05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81051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7A70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1783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3171"/>
                </a:solidFill>
                <a:latin typeface="Arial"/>
              </a:rPr>
              <a:t>Priority queue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0208" y="1801368"/>
            <a:ext cx="76745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55524B"/>
                </a:solidFill>
                <a:latin typeface="Inter"/>
              </a:rPr>
              <a:t>Klaim diurutkan High / Medium / Low memakai skor risiko deterministik — urutan tidak pernah diubah oleh LLM.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" y="2350008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66928" y="2468879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7A70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244144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3171"/>
                </a:solidFill>
                <a:latin typeface="Arial"/>
              </a:rPr>
              <a:t>Evidence terstruktur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0208" y="2459736"/>
            <a:ext cx="76745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55524B"/>
                </a:solidFill>
                <a:latin typeface="Inter"/>
              </a:rPr>
              <a:t>Setiap skor disertai bukti per sinyal (klinis, benchmark, pola) yang dapat dikutip saat klarifikasi dengan faskes.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" y="3008375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6928" y="3127247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7A70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099815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3171"/>
                </a:solidFill>
                <a:latin typeface="Arial"/>
              </a:rPr>
              <a:t>Klaim serupa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0208" y="3118103"/>
            <a:ext cx="76745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55524B"/>
                </a:solidFill>
                <a:latin typeface="Inter"/>
              </a:rPr>
              <a:t>Preseden klaim mirip (kode, biaya, faskes, waktu) sebagai alat bantu menduga cloning &amp; repeat billing.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3666744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3785615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7A70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3758183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3171"/>
                </a:solidFill>
                <a:latin typeface="Arial"/>
              </a:rPr>
              <a:t>Narasi Bahasa Indonesia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0208" y="3776471"/>
            <a:ext cx="76745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55524B"/>
                </a:solidFill>
                <a:latin typeface="Inter"/>
              </a:rPr>
              <a:t>Ringkasan investigasi + panel tanya-jawab terpandu dari LLM lokal — membaca bukti, bukan mengarang angka.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6928" y="4325112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8" y="4443983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7A70"/>
                </a:solidFill>
                <a:latin typeface="Arial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4416551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3171"/>
                </a:solidFill>
                <a:latin typeface="Arial"/>
              </a:rPr>
              <a:t>Keputusan &amp; audit trail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50208" y="4434839"/>
            <a:ext cx="76745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55524B"/>
                </a:solidFill>
                <a:latin typeface="Inter"/>
              </a:rPr>
              <a:t>Verified Valid · Klarifikasi · Perlu Review · Escalate — setiap keputusan tercatat dengan reviewer dan waktunya.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5093207"/>
            <a:ext cx="11057839" cy="566928"/>
          </a:xfrm>
          <a:prstGeom prst="rect">
            <a:avLst/>
          </a:prstGeom>
          <a:solidFill>
            <a:srgbClr val="EFF6F5"/>
          </a:solidFill>
          <a:ln w="15875">
            <a:solidFill>
              <a:srgbClr val="00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5166359"/>
            <a:ext cx="1069207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07A70"/>
                </a:solidFill>
                <a:latin typeface="Arial"/>
              </a:rPr>
              <a:t>Prinsip antarmuka:  </a:t>
            </a:r>
            <a:r>
              <a:rPr sz="1050" b="0" i="0">
                <a:solidFill>
                  <a:srgbClr val="2B2A27"/>
                </a:solidFill>
                <a:latin typeface="Inter"/>
              </a:rPr>
              <a:t>skor dan alasan deterministik tampil lebih dulu; narasi AI menyusul sebagai penjelas — tidak pernah sebaliknya.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007A70"/>
                </a:solidFill>
                <a:latin typeface="Arial"/>
              </a:rPr>
              <a:t>SOLUSI &amp; KEUNGGULAN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65760"/>
            <a:ext cx="41266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 spc="160">
                <a:solidFill>
                  <a:srgbClr val="8A8780"/>
                </a:solidFill>
                <a:latin typeface="Arial"/>
              </a:rPr>
              <a:t>J-ARI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03171"/>
                </a:solidFill>
                <a:latin typeface="Arial"/>
              </a:rPr>
              <a:t>Delapan langkah dari input klaim sampai keputusan verifier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52144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24B"/>
                </a:solidFill>
                <a:latin typeface="Inter"/>
              </a:rPr>
              <a:t>Validasi deterministik di depan, tiga agen paralel di tengah, skor non-LLM dan keputusan manusia di akhir.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17904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419088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9224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40">
                <a:solidFill>
                  <a:srgbClr val="8A8780"/>
                </a:solidFill>
                <a:latin typeface="Arial"/>
              </a:rPr>
              <a:t>J-ARI · JKN AGENTIC RISK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6492240"/>
            <a:ext cx="50410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140">
                <a:solidFill>
                  <a:srgbClr val="8A8780"/>
                </a:solidFill>
                <a:latin typeface="Arial"/>
              </a:rPr>
              <a:t>HEALTHKATHON 2026 · 06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55648"/>
            <a:ext cx="2558719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874519"/>
            <a:ext cx="226611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00">
                <a:solidFill>
                  <a:srgbClr val="007A70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139696"/>
            <a:ext cx="226611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3171"/>
                </a:solidFill>
                <a:latin typeface="Arial"/>
              </a:rPr>
              <a:t>Input klaim di E-Klaim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688336"/>
            <a:ext cx="22661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55524B"/>
                </a:solidFill>
                <a:latin typeface="Inter"/>
              </a:rPr>
              <a:t>Diagnosis, tindakan, obat, lama rawat, biaya, dan dokumen pendukung.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9967" y="1755648"/>
            <a:ext cx="2558719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6271" y="1874519"/>
            <a:ext cx="226611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00">
                <a:solidFill>
                  <a:srgbClr val="007A70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6271" y="2139696"/>
            <a:ext cx="226611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3171"/>
                </a:solidFill>
                <a:latin typeface="Arial"/>
              </a:rPr>
              <a:t>Klaim terkirim ke BPJS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6271" y="2688336"/>
            <a:ext cx="22661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55524B"/>
                </a:solidFill>
                <a:latin typeface="Inter"/>
              </a:rPr>
              <a:t>Klaim memiliki ID sumber dan waktu penerimaan.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1755648"/>
            <a:ext cx="2558719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9311" y="1874519"/>
            <a:ext cx="226611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00">
                <a:solidFill>
                  <a:srgbClr val="007A70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9311" y="2139696"/>
            <a:ext cx="226611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3171"/>
                </a:solidFill>
                <a:latin typeface="Arial"/>
              </a:rPr>
              <a:t>Klaim masuk ke J-ARI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9311" y="2688336"/>
            <a:ext cx="22661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55524B"/>
                </a:solidFill>
                <a:latin typeface="Inter"/>
              </a:rPr>
              <a:t>Dikonversi ke format klaim standar; provenance dicatat.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66047" y="1755648"/>
            <a:ext cx="2558719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2351" y="1874519"/>
            <a:ext cx="226611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00">
                <a:solidFill>
                  <a:srgbClr val="007A70"/>
                </a:solidFill>
                <a:latin typeface="Arial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2351" y="2139696"/>
            <a:ext cx="226611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3171"/>
                </a:solidFill>
                <a:latin typeface="Arial"/>
              </a:rPr>
              <a:t>Validasi otomatis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2351" y="2688336"/>
            <a:ext cx="22661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55524B"/>
                </a:solidFill>
                <a:latin typeface="Inter"/>
              </a:rPr>
              <a:t>Data quality, validasi tanggal &amp; field, cek duplikasi.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822191"/>
            <a:ext cx="2558719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3941063"/>
            <a:ext cx="226611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00">
                <a:solidFill>
                  <a:srgbClr val="007A70"/>
                </a:solidFill>
                <a:latin typeface="Arial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206240"/>
            <a:ext cx="226611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3171"/>
                </a:solidFill>
                <a:latin typeface="Arial"/>
              </a:rPr>
              <a:t>Tiga agen menganalisis paralel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754879"/>
            <a:ext cx="22661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55524B"/>
                </a:solidFill>
                <a:latin typeface="Inter"/>
              </a:rPr>
              <a:t>Clinical — diagnosis, severity, LOS.  Financial — benchmark, deviasi.  Pattern — similarity, unbundling.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99967" y="3822191"/>
            <a:ext cx="2558719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46271" y="3941063"/>
            <a:ext cx="226611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00">
                <a:solidFill>
                  <a:srgbClr val="007A70"/>
                </a:solidFill>
                <a:latin typeface="Arial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46271" y="4206240"/>
            <a:ext cx="226611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3171"/>
                </a:solidFill>
                <a:latin typeface="Arial"/>
              </a:rPr>
              <a:t>Hasil agen jadi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46271" y="4754879"/>
            <a:ext cx="22661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55524B"/>
                </a:solidFill>
                <a:latin typeface="Inter"/>
              </a:rPr>
              <a:t>Coverage, sinyal yang saling mendukung, dan uncertainty.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3007" y="3822191"/>
            <a:ext cx="2558719" cy="1810512"/>
          </a:xfrm>
          <a:prstGeom prst="rect">
            <a:avLst/>
          </a:prstGeom>
          <a:solidFill>
            <a:srgbClr val="EFF6F5"/>
          </a:solidFill>
          <a:ln w="15875">
            <a:solidFill>
              <a:srgbClr val="00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9311" y="3941063"/>
            <a:ext cx="226611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00">
                <a:solidFill>
                  <a:srgbClr val="007A70"/>
                </a:solidFill>
                <a:latin typeface="Arial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9311" y="4206240"/>
            <a:ext cx="226611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3171"/>
                </a:solidFill>
                <a:latin typeface="Arial"/>
              </a:rPr>
              <a:t>Risk Engine menghitung prioritas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9311" y="4754879"/>
            <a:ext cx="22661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55524B"/>
                </a:solidFill>
                <a:latin typeface="Inter"/>
              </a:rPr>
              <a:t>Skor risiko deterministik, kategori High / Medium / Low, rekomendasi aksi.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9311" y="5321808"/>
            <a:ext cx="226611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120">
                <a:solidFill>
                  <a:srgbClr val="007A70"/>
                </a:solidFill>
                <a:latin typeface="Arial"/>
              </a:rPr>
              <a:t>DETERMINISTIK · NON-LLM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66047" y="3822191"/>
            <a:ext cx="2558719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12351" y="3941063"/>
            <a:ext cx="226611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00">
                <a:solidFill>
                  <a:srgbClr val="007A70"/>
                </a:solidFill>
                <a:latin typeface="Arial"/>
              </a:rP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12351" y="4206240"/>
            <a:ext cx="226611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3171"/>
                </a:solidFill>
                <a:latin typeface="Arial"/>
              </a:rPr>
              <a:t>Verifier memutuskan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12351" y="4754879"/>
            <a:ext cx="22661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55524B"/>
                </a:solidFill>
                <a:latin typeface="Inter"/>
              </a:rPr>
              <a:t>Valid · Klarifikasi · Eskalasi — tiap keputusan masuk audit trail.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171367" y="2660904"/>
            <a:ext cx="182880" cy="0"/>
          </a:xfrm>
          <a:prstGeom prst="line">
            <a:avLst/>
          </a:prstGeom>
          <a:ln w="12700">
            <a:solidFill>
              <a:srgbClr val="B5B2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004407" y="2660904"/>
            <a:ext cx="182880" cy="0"/>
          </a:xfrm>
          <a:prstGeom prst="line">
            <a:avLst/>
          </a:prstGeom>
          <a:ln w="12700">
            <a:solidFill>
              <a:srgbClr val="B5B2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837447" y="2660904"/>
            <a:ext cx="182880" cy="0"/>
          </a:xfrm>
          <a:prstGeom prst="line">
            <a:avLst/>
          </a:prstGeom>
          <a:ln w="12700">
            <a:solidFill>
              <a:srgbClr val="B5B2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171367" y="4727448"/>
            <a:ext cx="182880" cy="0"/>
          </a:xfrm>
          <a:prstGeom prst="line">
            <a:avLst/>
          </a:prstGeom>
          <a:ln w="12700">
            <a:solidFill>
              <a:srgbClr val="B5B2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004407" y="4727448"/>
            <a:ext cx="182880" cy="0"/>
          </a:xfrm>
          <a:prstGeom prst="line">
            <a:avLst/>
          </a:prstGeom>
          <a:ln w="12700">
            <a:solidFill>
              <a:srgbClr val="B5B2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837447" y="4727448"/>
            <a:ext cx="182880" cy="0"/>
          </a:xfrm>
          <a:prstGeom prst="line">
            <a:avLst/>
          </a:prstGeom>
          <a:ln w="12700">
            <a:solidFill>
              <a:srgbClr val="B5B2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345407" y="3584448"/>
            <a:ext cx="0" cy="109728"/>
          </a:xfrm>
          <a:prstGeom prst="line">
            <a:avLst/>
          </a:prstGeom>
          <a:ln w="12700">
            <a:solidFill>
              <a:srgbClr val="B5B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846287" y="3694176"/>
            <a:ext cx="8499120" cy="0"/>
          </a:xfrm>
          <a:prstGeom prst="line">
            <a:avLst/>
          </a:prstGeom>
          <a:ln w="12700">
            <a:solidFill>
              <a:srgbClr val="B5B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846287" y="3694176"/>
            <a:ext cx="0" cy="91439"/>
          </a:xfrm>
          <a:prstGeom prst="line">
            <a:avLst/>
          </a:prstGeom>
          <a:ln w="12700">
            <a:solidFill>
              <a:srgbClr val="B5B2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345407" y="5650992"/>
            <a:ext cx="0" cy="256032"/>
          </a:xfrm>
          <a:prstGeom prst="line">
            <a:avLst/>
          </a:prstGeom>
          <a:ln w="12700">
            <a:solidFill>
              <a:srgbClr val="B5B2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1846287" y="5907024"/>
            <a:ext cx="8499120" cy="0"/>
          </a:xfrm>
          <a:prstGeom prst="line">
            <a:avLst/>
          </a:prstGeom>
          <a:ln w="12700">
            <a:solidFill>
              <a:srgbClr val="B5B2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846287" y="5687568"/>
            <a:ext cx="0" cy="219456"/>
          </a:xfrm>
          <a:prstGeom prst="line">
            <a:avLst/>
          </a:prstGeom>
          <a:ln w="12700">
            <a:solidFill>
              <a:srgbClr val="B5B2A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087368" y="5788152"/>
            <a:ext cx="402336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73152" rIns="73152" tIns="0" bIns="0">
            <a:spAutoFit/>
          </a:bodyPr>
          <a:lstStyle/>
          <a:p>
            <a:pPr algn="l"/>
            <a:r>
              <a:rPr sz="900" i="1">
                <a:solidFill>
                  <a:srgbClr val="8A8780"/>
                </a:solidFill>
                <a:latin typeface="Inter"/>
              </a:rPr>
              <a:t>Feedback keputusan verifier → evaluasi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007A70"/>
                </a:solidFill>
                <a:latin typeface="Arial"/>
              </a:rPr>
              <a:t>SOLUSI &amp; KEUNGGULAN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65760"/>
            <a:ext cx="41266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 spc="160">
                <a:solidFill>
                  <a:srgbClr val="8A8780"/>
                </a:solidFill>
                <a:latin typeface="Arial"/>
              </a:rPr>
              <a:t>J-ARI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03171"/>
                </a:solidFill>
                <a:latin typeface="Arial"/>
              </a:rPr>
              <a:t>Tiga sinyal saling menguatkan — skor tetap murni deterministik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52144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24B"/>
                </a:solidFill>
                <a:latin typeface="Inter"/>
              </a:rPr>
              <a:t>Klaim dengan satu sinyal lemah berbeda kualitas dari klaim dengan tiga sinyal kuat sekaligus; risk engine menimbang semuanya.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17904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419088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9224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40">
                <a:solidFill>
                  <a:srgbClr val="8A8780"/>
                </a:solidFill>
                <a:latin typeface="Arial"/>
              </a:rPr>
              <a:t>J-ARI · JKN AGENTIC RISK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6492240"/>
            <a:ext cx="50410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140">
                <a:solidFill>
                  <a:srgbClr val="8A8780"/>
                </a:solidFill>
                <a:latin typeface="Arial"/>
              </a:rPr>
              <a:t>HEALTHKATHON 2026 · 07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55648"/>
            <a:ext cx="3503066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883664"/>
            <a:ext cx="32104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007A70"/>
                </a:solidFill>
                <a:latin typeface="Arial"/>
              </a:rPr>
              <a:t>CLINICAL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121408"/>
            <a:ext cx="32104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3171"/>
                </a:solidFill>
                <a:latin typeface="Arial"/>
              </a:rPr>
              <a:t>Heuristik konsistensi INA-CBG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624328"/>
            <a:ext cx="321045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00" b="0" i="0">
                <a:solidFill>
                  <a:srgbClr val="55524B"/>
                </a:solidFill>
                <a:latin typeface="Inter"/>
              </a:rPr>
              <a:t>·  Severity ≥3 tanpa prosedur pendukung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00" b="0" i="0">
                <a:solidFill>
                  <a:srgbClr val="55524B"/>
                </a:solidFill>
                <a:latin typeface="Inter"/>
              </a:rPr>
              <a:t>·  Diagnosis sekunder risiko upcoding (A41.9, Z87.39, E46)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00" b="0" i="0">
                <a:solidFill>
                  <a:srgbClr val="55524B"/>
                </a:solidFill>
                <a:latin typeface="Inter"/>
              </a:rPr>
              <a:t>·  Obat &amp; lama rawat tidak konsisten dengan severity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4314" y="1755648"/>
            <a:ext cx="3503066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0618" y="1883664"/>
            <a:ext cx="32104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007A70"/>
                </a:solidFill>
                <a:latin typeface="Arial"/>
              </a:rPr>
              <a:t>FINANCIAL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2121408"/>
            <a:ext cx="32104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3171"/>
                </a:solidFill>
                <a:latin typeface="Arial"/>
              </a:rPr>
              <a:t>Benchmark reimbursement peer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2624328"/>
            <a:ext cx="321045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00" b="0" i="0">
                <a:solidFill>
                  <a:srgbClr val="55524B"/>
                </a:solidFill>
                <a:latin typeface="Inter"/>
              </a:rPr>
              <a:t>·  XGBoost memprediksi benchmark yang diharapkan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00" b="0" i="0">
                <a:solidFill>
                  <a:srgbClr val="55524B"/>
                </a:solidFill>
                <a:latin typeface="Inter"/>
              </a:rPr>
              <a:t>·  SHAP menjelaskan fitur paling berpengaruh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00" b="0" i="0">
                <a:solidFill>
                  <a:srgbClr val="55524B"/>
                </a:solidFill>
                <a:latin typeface="Inter"/>
              </a:rPr>
              <a:t>·  Deviasi &gt;50% / &gt;100% terhadap pembanding ditandai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21700" y="1755648"/>
            <a:ext cx="3503066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8004" y="1883664"/>
            <a:ext cx="32104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007A70"/>
                </a:solidFill>
                <a:latin typeface="Arial"/>
              </a:rPr>
              <a:t>PATTERN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8004" y="2121408"/>
            <a:ext cx="32104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3171"/>
                </a:solidFill>
                <a:latin typeface="Arial"/>
              </a:rPr>
              <a:t>Similarity &amp; pola relasional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8004" y="2624328"/>
            <a:ext cx="321045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00" b="0" i="0">
                <a:solidFill>
                  <a:srgbClr val="55524B"/>
                </a:solidFill>
                <a:latin typeface="Inter"/>
              </a:rPr>
              <a:t>·  LanceDB 384-d — kemiripan kode &amp; biaya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00" b="0" i="0">
                <a:solidFill>
                  <a:srgbClr val="55524B"/>
                </a:solidFill>
                <a:latin typeface="Inter"/>
              </a:rPr>
              <a:t>·  Skor komposit: kode 40% · biaya 30% · faskes 15% · waktu 10% · pasien 5%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00" b="0" i="0">
                <a:solidFill>
                  <a:srgbClr val="55524B"/>
                </a:solidFill>
                <a:latin typeface="Inter"/>
              </a:rPr>
              <a:t>·  Window 45 hari: cloning, repeat billing, unbundling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315968"/>
            <a:ext cx="11057839" cy="1481328"/>
          </a:xfrm>
          <a:prstGeom prst="rect">
            <a:avLst/>
          </a:prstGeom>
          <a:solidFill>
            <a:srgbClr val="EFF6F5"/>
          </a:solidFill>
          <a:ln w="15875">
            <a:solidFill>
              <a:srgbClr val="00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425696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20">
                <a:solidFill>
                  <a:srgbClr val="007A70"/>
                </a:solidFill>
                <a:latin typeface="Arial"/>
              </a:rPr>
              <a:t>RISK ENGINE — DETERMINISTIK, NON-LLM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754879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03171"/>
                </a:solidFill>
                <a:latin typeface="Arial"/>
              </a:rPr>
              <a:t>Clinical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010912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5524B"/>
                </a:solidFill>
                <a:latin typeface="Inter"/>
              </a:rPr>
              <a:t>maks 20 poin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2928" y="4754879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03171"/>
                </a:solidFill>
                <a:latin typeface="Arial"/>
              </a:rPr>
              <a:t>Financial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52928" y="5010912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5524B"/>
                </a:solidFill>
                <a:latin typeface="Inter"/>
              </a:rPr>
              <a:t>maks 30 poin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6048" y="4754879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03171"/>
                </a:solidFill>
                <a:latin typeface="Arial"/>
              </a:rPr>
              <a:t>Similarity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6048" y="5010912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5524B"/>
                </a:solidFill>
                <a:latin typeface="Inter"/>
              </a:rPr>
              <a:t>maks 20 poin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9168" y="4754879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03171"/>
                </a:solidFill>
                <a:latin typeface="Arial"/>
              </a:rPr>
              <a:t>Evidence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5010912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5524B"/>
                </a:solidFill>
                <a:latin typeface="Inter"/>
              </a:rPr>
              <a:t>maks 15 poin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49808" y="5358383"/>
            <a:ext cx="1069207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49808" y="5449824"/>
            <a:ext cx="10692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5524B"/>
                </a:solidFill>
                <a:latin typeface="Inter"/>
              </a:rPr>
              <a:t>Isolation Forest &amp; graph centrality dicatat sebagai konteks perilaku berbobot 0 — baru diaktifkan sebagai poin bila ablation membuktikan nilai tambahnya.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007A70"/>
                </a:solidFill>
                <a:latin typeface="Arial"/>
              </a:rPr>
              <a:t>SOLUSI &amp; KEUNGGULAN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65760"/>
            <a:ext cx="41266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 spc="160">
                <a:solidFill>
                  <a:srgbClr val="8A8780"/>
                </a:solidFill>
                <a:latin typeface="Arial"/>
              </a:rPr>
              <a:t>J-ARI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03171"/>
                </a:solidFill>
                <a:latin typeface="Arial"/>
              </a:rPr>
              <a:t>Bukan fraud detector generik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52144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24B"/>
                </a:solidFill>
                <a:latin typeface="Inter"/>
              </a:rPr>
              <a:t>Keunggulan J-ARI ada pada domain knowledge, transparansi, dan tata kelola LLM — bukan pada jumlah modelnya.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17904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419088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9224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40">
                <a:solidFill>
                  <a:srgbClr val="8A8780"/>
                </a:solidFill>
                <a:latin typeface="Arial"/>
              </a:rPr>
              <a:t>J-ARI · JKN AGENTIC RISK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6492240"/>
            <a:ext cx="50410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140">
                <a:solidFill>
                  <a:srgbClr val="8A8780"/>
                </a:solidFill>
                <a:latin typeface="Arial"/>
              </a:rPr>
              <a:t>HEALTHKATHON 2026 · 08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83080"/>
            <a:ext cx="11057839" cy="310896"/>
          </a:xfrm>
          <a:prstGeom prst="rect">
            <a:avLst/>
          </a:prstGeom>
          <a:solidFill>
            <a:srgbClr val="F8F6F0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828800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3171"/>
                </a:solidFill>
                <a:latin typeface="Arial"/>
              </a:rPr>
              <a:t>Dimensi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2656" y="1828800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3171"/>
                </a:solidFill>
                <a:latin typeface="Arial"/>
              </a:rPr>
              <a:t>Fraud detector generik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3136" y="1828800"/>
            <a:ext cx="4754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03171"/>
                </a:solidFill>
                <a:latin typeface="Arial"/>
              </a:rPr>
              <a:t>J-ARI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157984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03171"/>
                </a:solidFill>
                <a:latin typeface="Inter"/>
              </a:rPr>
              <a:t>Pengetahuan domain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215798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24B"/>
                </a:solidFill>
                <a:latin typeface="Inter"/>
              </a:rPr>
              <a:t>Anomali statistik generik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3136" y="2157984"/>
            <a:ext cx="47457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24B"/>
                </a:solidFill>
                <a:latin typeface="Inter"/>
              </a:rPr>
              <a:t>Heuristik konsistensi INA-CBG: diagnosis + severity + prosedur → tarif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" y="2734056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76656" y="2798064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03171"/>
                </a:solidFill>
                <a:latin typeface="Inter"/>
              </a:rPr>
              <a:t>Sinyal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2656" y="279806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24B"/>
                </a:solidFill>
                <a:latin typeface="Inter"/>
              </a:rPr>
              <a:t>1–2 sinyal (biasanya finansial)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3136" y="2798064"/>
            <a:ext cx="47457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24B"/>
                </a:solidFill>
                <a:latin typeface="Inter"/>
              </a:rPr>
              <a:t>Tiga sinyal terintegrasi: klinis, benchmark, pola relasional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3374136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6656" y="3438144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03171"/>
                </a:solidFill>
                <a:latin typeface="Inter"/>
              </a:rPr>
              <a:t>Explainability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62656" y="343814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24B"/>
                </a:solidFill>
                <a:latin typeface="Inter"/>
              </a:rPr>
              <a:t>Skor tunggal tanpa konteks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3136" y="3438144"/>
            <a:ext cx="47457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24B"/>
                </a:solidFill>
                <a:latin typeface="Inter"/>
              </a:rPr>
              <a:t>SHAP + evidence per agen + narasi Bahasa Indonesia, traceable per evidence_id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6928" y="4014216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76656" y="4078224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03171"/>
                </a:solidFill>
                <a:latin typeface="Inter"/>
              </a:rP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62656" y="407822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24B"/>
                </a:solidFill>
                <a:latin typeface="Inter"/>
              </a:rPr>
              <a:t>“Fraud / bukan fraud”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3136" y="4078224"/>
            <a:ext cx="47457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03171"/>
                </a:solidFill>
                <a:latin typeface="Inter"/>
              </a:rPr>
              <a:t>Prioritas verifikasi + bukti untuk investigasi manusia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8" y="4654296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76656" y="4718304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03171"/>
                </a:solidFill>
                <a:latin typeface="Inter"/>
              </a:rPr>
              <a:t>Tata kelola LLM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62656" y="471830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24B"/>
                </a:solidFill>
                <a:latin typeface="Inter"/>
              </a:rPr>
              <a:t>LLM sering menentukan keputusan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03136" y="4718304"/>
            <a:ext cx="47457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24B"/>
                </a:solidFill>
                <a:latin typeface="Inter"/>
              </a:rPr>
              <a:t>LLM hanya menulis narasi; skor &amp; tier selalu deterministik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5394960"/>
            <a:ext cx="11057839" cy="658368"/>
          </a:xfrm>
          <a:prstGeom prst="rect">
            <a:avLst/>
          </a:prstGeom>
          <a:solidFill>
            <a:srgbClr val="EFF6F5"/>
          </a:solidFill>
          <a:ln w="15875">
            <a:solidFill>
              <a:srgbClr val="00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5504688"/>
            <a:ext cx="10692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07A70"/>
                </a:solidFill>
                <a:latin typeface="Arial"/>
              </a:rPr>
              <a:t>Yang tidak kami klaim:  </a:t>
            </a:r>
            <a:r>
              <a:rPr sz="1050" b="0" i="0">
                <a:solidFill>
                  <a:srgbClr val="2B2A27"/>
                </a:solidFill>
                <a:latin typeface="Inter"/>
              </a:rPr>
              <a:t>J-ARI tidak membuktikan fraud, tidak menolak klaim otomatis, dan tidak menggantikan verifier — ia memastikan waktu verifier habis untuk klaim yang paling layak diperiksa.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007A70"/>
                </a:solidFill>
                <a:latin typeface="Arial"/>
              </a:rPr>
              <a:t>PENDEKATAN TEKNIS &amp;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65760"/>
            <a:ext cx="41266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 spc="160">
                <a:solidFill>
                  <a:srgbClr val="8A8780"/>
                </a:solidFill>
                <a:latin typeface="Arial"/>
              </a:rPr>
              <a:t>J-ARI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03171"/>
                </a:solidFill>
                <a:latin typeface="Arial"/>
              </a:rPr>
              <a:t>Arsitektur ringkas — berjalan offline penuh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52144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24B"/>
                </a:solidFill>
                <a:latin typeface="Inter"/>
              </a:rPr>
              <a:t>Semua komponen open-source; LLM 7B berjalan lokal via Ollama tanpa kirim data keluar.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17904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419088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9224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40">
                <a:solidFill>
                  <a:srgbClr val="8A8780"/>
                </a:solidFill>
                <a:latin typeface="Arial"/>
              </a:rPr>
              <a:t>J-ARI · JKN AGENTIC RISK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6492240"/>
            <a:ext cx="50410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140">
                <a:solidFill>
                  <a:srgbClr val="8A8780"/>
                </a:solidFill>
                <a:latin typeface="Arial"/>
              </a:rPr>
              <a:t>HEALTHKATHON 2026 · 09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55648"/>
            <a:ext cx="35021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920240"/>
            <a:ext cx="32095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03171"/>
                </a:solidFill>
                <a:latin typeface="Arial"/>
              </a:rPr>
              <a:t>UI Verifier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157984"/>
            <a:ext cx="320954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5524B"/>
                </a:solidFill>
                <a:latin typeface="Inter"/>
              </a:rPr>
              <a:t>React + Vite — 7 halaman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96512" y="2194560"/>
            <a:ext cx="219456" cy="0"/>
          </a:xfrm>
          <a:prstGeom prst="line">
            <a:avLst/>
          </a:prstGeom>
          <a:ln w="12700">
            <a:solidFill>
              <a:srgbClr val="B5B2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343400" y="1755648"/>
            <a:ext cx="35021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1920240"/>
            <a:ext cx="32095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03171"/>
                </a:solidFill>
                <a:latin typeface="Arial"/>
              </a:rPr>
              <a:t>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2157984"/>
            <a:ext cx="320954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5524B"/>
                </a:solidFill>
                <a:latin typeface="Inter"/>
              </a:rPr>
              <a:t>REST + SSE real-time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72983" y="2194560"/>
            <a:ext cx="219457" cy="0"/>
          </a:xfrm>
          <a:prstGeom prst="line">
            <a:avLst/>
          </a:prstGeom>
          <a:ln w="12700">
            <a:solidFill>
              <a:srgbClr val="B5B2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119871" y="1755648"/>
            <a:ext cx="3502152" cy="868680"/>
          </a:xfrm>
          <a:prstGeom prst="rect">
            <a:avLst/>
          </a:prstGeom>
          <a:solidFill>
            <a:srgbClr val="EFF6F5"/>
          </a:solidFill>
          <a:ln w="15875">
            <a:solidFill>
              <a:srgbClr val="00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5" y="1883664"/>
            <a:ext cx="32095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03171"/>
                </a:solidFill>
                <a:latin typeface="Arial"/>
              </a:rPr>
              <a:t>Orchestrator 5 fase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5" y="2157984"/>
            <a:ext cx="320954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5524B"/>
                </a:solidFill>
                <a:latin typeface="Inter"/>
              </a:rPr>
              <a:t>gate deterministik → 3 agen paralel → sintesis → skor → narasi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5847" y="2624328"/>
            <a:ext cx="0" cy="320040"/>
          </a:xfrm>
          <a:prstGeom prst="line">
            <a:avLst/>
          </a:prstGeom>
          <a:ln w="12700">
            <a:solidFill>
              <a:srgbClr val="B5B2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66928" y="2944368"/>
            <a:ext cx="35021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3072384"/>
            <a:ext cx="32095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03171"/>
                </a:solidFill>
                <a:latin typeface="Arial"/>
              </a:rPr>
              <a:t>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364992"/>
            <a:ext cx="320954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5524B"/>
                </a:solidFill>
                <a:latin typeface="Inter"/>
              </a:rPr>
              <a:t>klaim, analisis, keputusan manusia, audit log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2944368"/>
            <a:ext cx="35021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9704" y="3072384"/>
            <a:ext cx="32095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03171"/>
                </a:solidFill>
                <a:latin typeface="Arial"/>
              </a:rPr>
              <a:t>LanceDB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9704" y="3364992"/>
            <a:ext cx="320954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5524B"/>
                </a:solidFill>
                <a:latin typeface="Inter"/>
              </a:rPr>
              <a:t>vektor 384-d untuk similarity search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19871" y="2944368"/>
            <a:ext cx="35021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66175" y="3072384"/>
            <a:ext cx="32095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03171"/>
                </a:solidFill>
                <a:latin typeface="Arial"/>
              </a:rPr>
              <a:t>Ollama — LLM lokal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6175" y="3364992"/>
            <a:ext cx="320954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5524B"/>
                </a:solidFill>
                <a:latin typeface="Inter"/>
              </a:rPr>
              <a:t>qwen2.5 7B · deepseek-r1 7B · mistral 7B (Q4_K_M)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4224528"/>
            <a:ext cx="2572435" cy="658368"/>
          </a:xfrm>
          <a:prstGeom prst="rect">
            <a:avLst/>
          </a:prstGeom>
          <a:solidFill>
            <a:srgbClr val="EFF6F5"/>
          </a:solidFill>
          <a:ln w="15875">
            <a:solidFill>
              <a:srgbClr val="00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4224528"/>
            <a:ext cx="257243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07A70"/>
                </a:solidFill>
                <a:latin typeface="Inter"/>
              </a:rPr>
              <a:t>&lt; 3,5 dtk per klaim (termasuk LLM lokal)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95395" y="4224528"/>
            <a:ext cx="25724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95395" y="4224528"/>
            <a:ext cx="257243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5524B"/>
                </a:solidFill>
                <a:latin typeface="Inter"/>
              </a:rPr>
              <a:t>Fallback non-blocking per agen — pipeline tidak crash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23863" y="4224528"/>
            <a:ext cx="25724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863" y="4224528"/>
            <a:ext cx="257243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5524B"/>
                </a:solidFill>
                <a:latin typeface="Inter"/>
              </a:rPr>
              <a:t>On-premise / offline penuh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52331" y="4224528"/>
            <a:ext cx="257243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331" y="4224528"/>
            <a:ext cx="257243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5524B"/>
                </a:solidFill>
                <a:latin typeface="Inter"/>
              </a:rPr>
              <a:t>Cukup 1 GPU 8 GB (laptop kelas menengah)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5212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3171"/>
                </a:solidFill>
                <a:latin typeface="Arial"/>
              </a:rPr>
              <a:t>Keputusan teknis kunci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5532120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03171"/>
                </a:solidFill>
                <a:latin typeface="Arial"/>
              </a:rPr>
              <a:t>LLMClient protocol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81528" y="5541264"/>
            <a:ext cx="8503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5524B"/>
                </a:solidFill>
                <a:latin typeface="Inter"/>
              </a:rPr>
              <a:t>Ollama lokal / Gemini API dapat ditukar tanpa mengubah agen — hindari vendor lock-in.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5824728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03171"/>
                </a:solidFill>
                <a:latin typeface="Arial"/>
              </a:rPr>
              <a:t>Idempotensi &amp; race guard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81528" y="5833872"/>
            <a:ext cx="8503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5524B"/>
                </a:solidFill>
                <a:latin typeface="Inter"/>
              </a:rPr>
              <a:t>analysis_generation UUID + trigger immutable pada received_at &amp; queue_sequence.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6117336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03171"/>
                </a:solidFill>
                <a:latin typeface="Arial"/>
              </a:rPr>
              <a:t>Evaluasi sebagai bagian produk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81528" y="6126480"/>
            <a:ext cx="8503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5524B"/>
                </a:solidFill>
                <a:latin typeface="Inter"/>
              </a:rPr>
              <a:t>endpoint /api/ml/eval menampilkan metrik nyata — bukan angka simulasi.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007A70"/>
                </a:solidFill>
                <a:latin typeface="Arial"/>
              </a:rPr>
              <a:t>PENDEKATAN TEKNIS &amp;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65760"/>
            <a:ext cx="41266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 spc="160">
                <a:solidFill>
                  <a:srgbClr val="8A8780"/>
                </a:solidFill>
                <a:latin typeface="Arial"/>
              </a:rPr>
              <a:t>J-ARI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03171"/>
                </a:solidFill>
                <a:latin typeface="Arial"/>
              </a:rPr>
              <a:t>Kebutuhan data: skema klaim standar — tanpa identitas pribadi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52144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24B"/>
                </a:solidFill>
                <a:latin typeface="Inter"/>
              </a:rPr>
              <a:t>MVP berjalan dengan data sintetis ber-label; produksi memakai klaim upstream melalui adapter terstandar.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17904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419088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9224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40">
                <a:solidFill>
                  <a:srgbClr val="8A8780"/>
                </a:solidFill>
                <a:latin typeface="Arial"/>
              </a:rPr>
              <a:t>J-ARI · JKN AGENTIC RISK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6492240"/>
            <a:ext cx="50410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140">
                <a:solidFill>
                  <a:srgbClr val="8A8780"/>
                </a:solidFill>
                <a:latin typeface="Arial"/>
              </a:rPr>
              <a:t>HEALTHKATHON 2026 · 10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830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3171"/>
                </a:solidFill>
                <a:latin typeface="Arial"/>
              </a:rPr>
              <a:t>Field yang dibutuhkan (sudah distandarkan)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14884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03171"/>
                </a:solidFill>
                <a:latin typeface="Arial"/>
              </a:rPr>
              <a:t>Identitas terpseudonim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2157984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5524B"/>
                </a:solidFill>
                <a:latin typeface="Inter"/>
              </a:rPr>
              <a:t>patient_id PAT-XXXXX · provider FAC-X99 · doctor DR-X99-XXX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71576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03171"/>
                </a:solidFill>
                <a:latin typeface="Arial"/>
              </a:rPr>
              <a:t>Diagnosis &amp; prosedur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8648" y="2724912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5524B"/>
                </a:solidFill>
                <a:latin typeface="Inter"/>
              </a:rPr>
              <a:t>ICD-10 primer + sekunder · ICD-9-CM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28269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03171"/>
                </a:solidFill>
                <a:latin typeface="Arial"/>
              </a:rPr>
              <a:t>Karakter episode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32918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5524B"/>
                </a:solidFill>
                <a:latin typeface="Inter"/>
              </a:rPr>
              <a:t>severity 1–4 · lama rawat · tanggal masuk/pulang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8496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03171"/>
                </a:solidFill>
                <a:latin typeface="Arial"/>
              </a:rPr>
              <a:t>Finansial &amp; farmasi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3858768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5524B"/>
                </a:solidFill>
                <a:latin typeface="Inter"/>
              </a:rPr>
              <a:t>biaya klaim · daftar obat + kuantitas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41655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03171"/>
                </a:solidFill>
                <a:latin typeface="Arial"/>
              </a:rPr>
              <a:t>Provenance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8648" y="4425696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5524B"/>
                </a:solidFill>
                <a:latin typeface="Inter"/>
              </a:rPr>
              <a:t>ID sumber, waktu terima, nomor antrean — immutable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029200"/>
            <a:ext cx="5303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8A8780"/>
                </a:solidFill>
                <a:latin typeface="Inter"/>
              </a:rPr>
              <a:t>Sumber produksi: aliran klaim E-Klaim/Vclaim faskes — J-ARI menerima salinan read-only, tidak pernah mengubah sistem sumber.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783080"/>
            <a:ext cx="5479999" cy="2103120"/>
          </a:xfrm>
          <a:prstGeom prst="rect">
            <a:avLst/>
          </a:prstGeom>
          <a:solidFill>
            <a:srgbClr val="EFF6F5"/>
          </a:solidFill>
          <a:ln w="15875">
            <a:solidFill>
              <a:srgbClr val="00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1901952"/>
            <a:ext cx="51142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20">
                <a:solidFill>
                  <a:srgbClr val="007A70"/>
                </a:solidFill>
                <a:latin typeface="Arial"/>
              </a:rPr>
              <a:t>MVP — DATA SINTETIS BER-LABEL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2212848"/>
            <a:ext cx="5114239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0" i="0">
                <a:solidFill>
                  <a:srgbClr val="55524B"/>
                </a:solidFill>
                <a:latin typeface="Inter"/>
              </a:rPr>
              <a:t>·  Generator data dipisah dari pembuat detector (anti-tautologi)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0" i="0">
                <a:solidFill>
                  <a:srgbClr val="55524B"/>
                </a:solidFill>
                <a:latin typeface="Inter"/>
              </a:rPr>
              <a:t>·  Test set held-out dengan seed berbeda — tidak dilihat saat tuning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0" i="0">
                <a:solidFill>
                  <a:srgbClr val="55524B"/>
                </a:solidFill>
                <a:latin typeface="Inter"/>
              </a:rPr>
              <a:t>·  Ground truth disimpan terpisah dari input model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0" i="0">
                <a:solidFill>
                  <a:srgbClr val="55524B"/>
                </a:solidFill>
                <a:latin typeface="Inter"/>
              </a:rPr>
              <a:t>·  Hasil evaluasi ditampilkan apa adanya, termasuk kegagalannya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4023360"/>
            <a:ext cx="5479999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4142232"/>
            <a:ext cx="51142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20">
                <a:solidFill>
                  <a:srgbClr val="003171"/>
                </a:solidFill>
                <a:latin typeface="Arial"/>
              </a:rPr>
              <a:t>KALIBRASI &amp; AKSES DATA RESMI BPJS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4453128"/>
            <a:ext cx="51142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0" i="0">
                <a:solidFill>
                  <a:srgbClr val="55524B"/>
                </a:solidFill>
                <a:latin typeface="Inter"/>
              </a:rPr>
              <a:t>·  Agregat: 100 penyakit terbanyak &amp; kepadatan faskes per provinsi — menyelaraskan generator sintetis dengan profil JKN nyata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0" i="0">
                <a:solidFill>
                  <a:srgbClr val="55524B"/>
                </a:solidFill>
                <a:latin typeface="Inter"/>
              </a:rPr>
              <a:t>·  Data Sampel BPJS: cohort longitudinal 2015–2024 (±126 juta baris, terde-identifikasi) via permintaan resmi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50" b="0" i="0">
                <a:solidFill>
                  <a:srgbClr val="55524B"/>
                </a:solidFill>
                <a:latin typeface="Inter"/>
              </a:rPr>
              <a:t>·  Jalur sah ke data tingkat klaim untuk validasi — tanpa menyalahi aturan data peserta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007A70"/>
                </a:solidFill>
                <a:latin typeface="Arial"/>
              </a:rPr>
              <a:t>TINGKAT KEMATANGAN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65760"/>
            <a:ext cx="41266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 spc="160">
                <a:solidFill>
                  <a:srgbClr val="8A8780"/>
                </a:solidFill>
                <a:latin typeface="Arial"/>
              </a:rPr>
              <a:t>J-ARI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03171"/>
                </a:solidFill>
                <a:latin typeface="Arial"/>
              </a:rPr>
              <a:t>Prototype end-to-end yang sudah berjalan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52144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24B"/>
                </a:solidFill>
                <a:latin typeface="Inter"/>
              </a:rPr>
              <a:t>Bukan konsep di atas kertas — seluruh alur dari intake sampai keputusan manusia dapat didemonstrasikan offline.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17904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419088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9224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40">
                <a:solidFill>
                  <a:srgbClr val="8A8780"/>
                </a:solidFill>
                <a:latin typeface="Arial"/>
              </a:rPr>
              <a:t>J-ARI · JKN AGENTIC RISK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6492240"/>
            <a:ext cx="50410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140">
                <a:solidFill>
                  <a:srgbClr val="8A8780"/>
                </a:solidFill>
                <a:latin typeface="Arial"/>
              </a:rPr>
              <a:t>HEALTHKATHON 2026 · 11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55648"/>
            <a:ext cx="1463040" cy="365760"/>
          </a:xfrm>
          <a:prstGeom prst="rect">
            <a:avLst/>
          </a:prstGeom>
          <a:solidFill>
            <a:srgbClr val="EFF6F5"/>
          </a:solidFill>
          <a:ln w="15875">
            <a:solidFill>
              <a:srgbClr val="00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5564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07A70"/>
                </a:solidFill>
                <a:latin typeface="Inter"/>
              </a:rPr>
              <a:t>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180136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524B"/>
                </a:solidFill>
                <a:latin typeface="Inter"/>
              </a:rPr>
              <a:t>Level 3 dari 5 — fitur utama berfungsi penuh dalam lingkungan terbatas.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3317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7A70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331720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3171"/>
                </a:solidFill>
                <a:latin typeface="Arial"/>
              </a:rPr>
              <a:t>Pipeline 5 fase lengkap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606039"/>
            <a:ext cx="50292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55524B"/>
                </a:solidFill>
                <a:latin typeface="Inter"/>
              </a:rPr>
              <a:t>gate deterministik → 3 agen paralel → sintesis → risk engine → narasi, dengan fallback non-blocking per agen.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23317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7A70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331720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3171"/>
                </a:solidFill>
                <a:latin typeface="Arial"/>
              </a:rPr>
              <a:t>UI verifier 7 halaman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606039"/>
            <a:ext cx="50292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55524B"/>
                </a:solidFill>
                <a:latin typeface="Inter"/>
              </a:rPr>
              <a:t>queue berprioritas, investigasi real-time (SSE), assessment SHAP + QA panel, monitoring, evaluasi ML, intake.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374135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7A70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374135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3171"/>
                </a:solidFill>
                <a:latin typeface="Arial"/>
              </a:rPr>
              <a:t>Keputusan &amp; 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3648455"/>
            <a:ext cx="50292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55524B"/>
                </a:solidFill>
                <a:latin typeface="Inter"/>
              </a:rPr>
              <a:t>setiap eksekusi agen, keputusan manusia, dan reviewer tercatat (agent_runs, human_decisions, audit_logs).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3374135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7A70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3374135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3171"/>
                </a:solidFill>
                <a:latin typeface="Arial"/>
              </a:rPr>
              <a:t>Evaluasi otomatis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3648455"/>
            <a:ext cx="50292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55524B"/>
                </a:solidFill>
                <a:latin typeface="Inter"/>
              </a:rPr>
              <a:t>CLI &amp; endpoint metrik: Precision@K, Recall@K, PR-AUC, latensi p50/p95 — dijalankan ulang setiap perubahan.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41655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7A70"/>
                </a:solidFill>
                <a:latin typeface="Arial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416552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3171"/>
                </a:solidFill>
                <a:latin typeface="Arial"/>
              </a:rPr>
              <a:t>Offline-first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4690872"/>
            <a:ext cx="50292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55524B"/>
                </a:solidFill>
                <a:latin typeface="Inter"/>
              </a:rPr>
              <a:t>LLM 7B lokal via Ollama; demo end-to-end tanpa koneksi eksternal; cukup 1 GPU 8 GB.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441655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7A70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4416552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3171"/>
                </a:solidFill>
                <a:latin typeface="Arial"/>
              </a:rPr>
              <a:t>Data sintetis disiplin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4690872"/>
            <a:ext cx="50292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55524B"/>
                </a:solidFill>
                <a:latin typeface="Inter"/>
              </a:rPr>
              <a:t>generator terpisah dari detector; test set held-out seed berbeda; ground truth terpisah.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5532120"/>
            <a:ext cx="110578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641848"/>
            <a:ext cx="106920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3171"/>
                </a:solidFill>
                <a:latin typeface="Arial"/>
              </a:rPr>
              <a:t>Batasan yang jujur:  </a:t>
            </a:r>
            <a:r>
              <a:rPr sz="1000" b="0" i="0">
                <a:solidFill>
                  <a:srgbClr val="55524B"/>
                </a:solidFill>
                <a:latin typeface="Inter"/>
              </a:rPr>
              <a:t>belum diuji dengan data klaim riil — validasi domain expert dan pilot dengan data berizin masuk Fase 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007A70"/>
                </a:solidFill>
                <a:latin typeface="Arial"/>
              </a:rPr>
              <a:t>TINGKAT KEMATANGAN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65760"/>
            <a:ext cx="41266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 spc="160">
                <a:solidFill>
                  <a:srgbClr val="8A8780"/>
                </a:solidFill>
                <a:latin typeface="Arial"/>
              </a:rPr>
              <a:t>J-ARI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03171"/>
                </a:solidFill>
                <a:latin typeface="Arial"/>
              </a:rPr>
              <a:t>Hasil evaluasi nyata — diukur pada test set tersendiri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52144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24B"/>
                </a:solidFill>
                <a:latin typeface="Inter"/>
              </a:rPr>
              <a:t>Angka dari pipeline evaluasi otomatis pada 78 klaim uji profil “challenge” dengan 25 anomali tanam — bukan angka simulasi.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17904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419088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9224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40">
                <a:solidFill>
                  <a:srgbClr val="8A8780"/>
                </a:solidFill>
                <a:latin typeface="Arial"/>
              </a:rPr>
              <a:t>J-ARI · JKN AGENTIC RISK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6492240"/>
            <a:ext cx="50410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140">
                <a:solidFill>
                  <a:srgbClr val="8A8780"/>
                </a:solidFill>
                <a:latin typeface="Arial"/>
              </a:rPr>
              <a:t>HEALTHKATHON 2026 · 12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83080"/>
            <a:ext cx="2572435" cy="1645920"/>
          </a:xfrm>
          <a:prstGeom prst="rect">
            <a:avLst/>
          </a:prstGeom>
          <a:solidFill>
            <a:srgbClr val="EFF6F5"/>
          </a:solidFill>
          <a:ln w="15875">
            <a:solidFill>
              <a:srgbClr val="00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9384"/>
            <a:ext cx="224325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07A70"/>
                </a:solidFill>
                <a:latin typeface="Arial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96312"/>
            <a:ext cx="224325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Recall@50 — 25 dari 25 anomali berada di 50 klaim teratas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99816"/>
            <a:ext cx="224325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1">
                <a:solidFill>
                  <a:srgbClr val="8A8780"/>
                </a:solidFill>
                <a:latin typeface="Inter"/>
              </a:rPr>
              <a:t>Held-out challenge set, seed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5395" y="1783080"/>
            <a:ext cx="2572435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9987" y="1929384"/>
            <a:ext cx="224325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03171"/>
                </a:solidFill>
                <a:latin typeface="Arial"/>
              </a:rPr>
              <a:t>0,74 → 0,79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9987" y="2496312"/>
            <a:ext cx="224325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Average Precision naik +5,1 pp setelah konteks perilaku ditambahkan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9987" y="3099816"/>
            <a:ext cx="224325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1">
                <a:solidFill>
                  <a:srgbClr val="8A8780"/>
                </a:solidFill>
                <a:latin typeface="Inter"/>
              </a:rPr>
              <a:t>Ablation p0-core vs +behavioral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3863" y="1783080"/>
            <a:ext cx="2572435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8455" y="1929384"/>
            <a:ext cx="224325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03171"/>
                </a:solidFill>
                <a:latin typeface="Arial"/>
              </a:rPr>
              <a:t>118 / 184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8455" y="2496312"/>
            <a:ext cx="224325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Latensi p50 / p95 per klaim pada risk engine (tanpa LLM)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8455" y="3099816"/>
            <a:ext cx="224325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1">
                <a:solidFill>
                  <a:srgbClr val="8A8780"/>
                </a:solidFill>
                <a:latin typeface="Inter"/>
              </a:rPr>
              <a:t>Pipeline evaluation runner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331" y="1783080"/>
            <a:ext cx="2572435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6923" y="1929384"/>
            <a:ext cx="224325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03171"/>
                </a:solidFill>
                <a:latin typeface="Arial"/>
              </a:rPr>
              <a:t>MAPE 5,2%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6923" y="2496312"/>
            <a:ext cx="224325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Akurasi benchmark biaya pada klaim normal (holdout)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6923" y="3099816"/>
            <a:ext cx="224325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1">
                <a:solidFill>
                  <a:srgbClr val="8A8780"/>
                </a:solidFill>
                <a:latin typeface="Inter"/>
              </a:rPr>
              <a:t>XGBoost regressor, 3.464 sampel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703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3171"/>
                </a:solidFill>
                <a:latin typeface="Arial"/>
              </a:rPr>
              <a:t>Model klasifikasi biner (evaluasi terpisah, 3.464 sampel)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069080"/>
            <a:ext cx="11057839" cy="310896"/>
          </a:xfrm>
          <a:prstGeom prst="rect">
            <a:avLst/>
          </a:prstGeom>
          <a:solidFill>
            <a:srgbClr val="F8F6F0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4110228"/>
            <a:ext cx="20116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3171"/>
                </a:solidFill>
                <a:latin typeface="Arial"/>
              </a:rPr>
              <a:t>Metrik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71216" y="4110228"/>
            <a:ext cx="19202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3171"/>
                </a:solidFill>
                <a:latin typeface="Arial"/>
              </a:rPr>
              <a:t>PR-AUC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74336" y="4110228"/>
            <a:ext cx="19202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3171"/>
                </a:solidFill>
                <a:latin typeface="Arial"/>
              </a:rPr>
              <a:t>ROC-AUC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77456" y="4110228"/>
            <a:ext cx="19202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3171"/>
                </a:solidFill>
                <a:latin typeface="Arial"/>
              </a:rPr>
              <a:t>Presisi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0576" y="4110228"/>
            <a:ext cx="2276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3171"/>
                </a:solidFill>
                <a:latin typeface="Arial"/>
              </a:rPr>
              <a:t>Recall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4443984"/>
            <a:ext cx="2011679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03171"/>
                </a:solidFill>
                <a:latin typeface="Inter"/>
              </a:rPr>
              <a:t>XGBoost classifier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71216" y="4443984"/>
            <a:ext cx="1920239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24B"/>
                </a:solidFill>
                <a:latin typeface="Inter"/>
              </a:rPr>
              <a:t>0,89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74336" y="4443984"/>
            <a:ext cx="1920239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24B"/>
                </a:solidFill>
                <a:latin typeface="Inter"/>
              </a:rPr>
              <a:t>0,91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77456" y="4443984"/>
            <a:ext cx="1920239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24B"/>
                </a:solidFill>
                <a:latin typeface="Inter"/>
              </a:rPr>
              <a:t>1,00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0576" y="4443984"/>
            <a:ext cx="2276856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24B"/>
                </a:solidFill>
                <a:latin typeface="Inter"/>
              </a:rPr>
              <a:t>0,80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4892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3171"/>
                </a:solidFill>
                <a:latin typeface="Arial"/>
              </a:rPr>
              <a:t>Bacaan yang jujur atas angka ini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5230368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 i="0">
                <a:solidFill>
                  <a:srgbClr val="55524B"/>
                </a:solidFill>
                <a:latin typeface="Inter"/>
              </a:rPr>
              <a:t>·  Precision@50 = 0,50 mengikuti prevalensi anomali 32% pada set uji — pada data produksi yang jauh lebih tidak seimbang, presisi top-K justru lebih bermakna.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 i="0">
                <a:solidFill>
                  <a:srgbClr val="55524B"/>
                </a:solidFill>
                <a:latin typeface="Inter"/>
              </a:rPr>
              <a:t>·  Label pada data sintetis bukan pengganti validasi domain — validasi eksternal adalah target Fase 4.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 i="0">
                <a:solidFill>
                  <a:srgbClr val="55524B"/>
                </a:solidFill>
                <a:latin typeface="Inter"/>
              </a:rPr>
              <a:t>·  Calibration score belum dihitung (skor risiko bukan probabilitas) — dicatat sebagai keterbatasan, bukan disembunyikan.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007A70"/>
                </a:solidFill>
                <a:latin typeface="Arial"/>
              </a:rPr>
              <a:t>TINGKAT KEMATANGAN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65760"/>
            <a:ext cx="41266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 spc="160">
                <a:solidFill>
                  <a:srgbClr val="8A8780"/>
                </a:solidFill>
                <a:latin typeface="Arial"/>
              </a:rPr>
              <a:t>J-ARI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03171"/>
                </a:solidFill>
                <a:latin typeface="Arial"/>
              </a:rPr>
              <a:t>Pelajaran penting: satu model tidak cukup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52144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24B"/>
                </a:solidFill>
                <a:latin typeface="Inter"/>
              </a:rPr>
              <a:t>Klasifikasi per-klaim melewatkan pola relasional — di situlah sinyal similarity &amp; jendela 45 hari menutup celah.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17904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419088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9224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40">
                <a:solidFill>
                  <a:srgbClr val="8A8780"/>
                </a:solidFill>
                <a:latin typeface="Arial"/>
              </a:rPr>
              <a:t>J-ARI · JKN AGENTIC RISK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6492240"/>
            <a:ext cx="50410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140">
                <a:solidFill>
                  <a:srgbClr val="8A8780"/>
                </a:solidFill>
                <a:latin typeface="Arial"/>
              </a:rPr>
              <a:t>HEALTHKATHON 2026 · 13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83080"/>
            <a:ext cx="6949440" cy="310896"/>
          </a:xfrm>
          <a:prstGeom prst="rect">
            <a:avLst/>
          </a:prstGeom>
          <a:solidFill>
            <a:srgbClr val="F8F6F0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82880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3171"/>
                </a:solidFill>
                <a:latin typeface="Arial"/>
              </a:rPr>
              <a:t>Tipe anomali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6896" y="1828800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3171"/>
                </a:solidFill>
                <a:latin typeface="Arial"/>
              </a:rPr>
              <a:t>Classifier tunggal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256" y="1828800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3171"/>
                </a:solidFill>
                <a:latin typeface="Arial"/>
              </a:rPr>
              <a:t>Pipeline multi-sinyal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71616" y="182880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3171"/>
                </a:solidFill>
                <a:latin typeface="Arial"/>
              </a:rPr>
              <a:t>Peringkat teratas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2157984"/>
            <a:ext cx="1737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3171"/>
                </a:solidFill>
                <a:latin typeface="Inter"/>
              </a:rPr>
              <a:t>Upcoding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6896" y="2157984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2157984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71616" y="2157984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#6 dari 78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2514600"/>
            <a:ext cx="69494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76656" y="2578608"/>
            <a:ext cx="1737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3171"/>
                </a:solidFill>
                <a:latin typeface="Inter"/>
              </a:rPr>
              <a:t>Phantom billing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96896" y="2578608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4256" y="2578608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71616" y="2578608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#7 dari 78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2935224"/>
            <a:ext cx="69494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6656" y="2999232"/>
            <a:ext cx="1737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3171"/>
                </a:solidFill>
                <a:latin typeface="Inter"/>
              </a:rPr>
              <a:t>Unbundling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96896" y="299923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4256" y="299923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71616" y="2999232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#1 dari 78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8" y="3355848"/>
            <a:ext cx="69494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76656" y="3419856"/>
            <a:ext cx="1737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3171"/>
                </a:solidFill>
                <a:latin typeface="Inter"/>
              </a:rPr>
              <a:t>Inflated bill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96896" y="3419856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100%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34256" y="3419856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71616" y="3419856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#19 dari 78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6928" y="3776472"/>
            <a:ext cx="69494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76656" y="3840480"/>
            <a:ext cx="1737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3171"/>
                </a:solidFill>
                <a:latin typeface="Inter"/>
              </a:rPr>
              <a:t>Prolonged LOS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96896" y="3840480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34256" y="3840480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100%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71616" y="3840480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#12 dari 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66928" y="4197096"/>
            <a:ext cx="69494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76656" y="4261104"/>
            <a:ext cx="1737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3261E"/>
                </a:solidFill>
                <a:latin typeface="Inter"/>
              </a:rPr>
              <a:t>Cloning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96896" y="4261104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3261E"/>
                </a:solidFill>
                <a:latin typeface="Inter"/>
              </a:rPr>
              <a:t>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34256" y="4261104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6E64"/>
                </a:solidFill>
                <a:latin typeface="Inter"/>
              </a:rPr>
              <a:t>100%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71616" y="4261104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#33 dari 78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66928" y="4617720"/>
            <a:ext cx="69494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76656" y="4681728"/>
            <a:ext cx="1737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3261E"/>
                </a:solidFill>
                <a:latin typeface="Inter"/>
              </a:rPr>
              <a:t>Repeat billing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96896" y="4681728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3261E"/>
                </a:solidFill>
                <a:latin typeface="Inter"/>
              </a:rPr>
              <a:t>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4256" y="4681728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6E64"/>
                </a:solidFill>
                <a:latin typeface="Inter"/>
              </a:rPr>
              <a:t>100%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71616" y="4681728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#24 dari 78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82127" y="1828800"/>
            <a:ext cx="3742639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050" b="1" i="0">
                <a:solidFill>
                  <a:srgbClr val="003171"/>
                </a:solidFill>
                <a:latin typeface="Arial"/>
              </a:rPr>
              <a:t>Cloning &amp; repeat billing mustahil dilihat dari satu klaim.  </a:t>
            </a:r>
            <a:r>
              <a:rPr sz="1000" b="0" i="0">
                <a:solidFill>
                  <a:srgbClr val="55524B"/>
                </a:solidFill>
                <a:latin typeface="Inter"/>
              </a:rPr>
              <a:t>Keduanya pola antar-klaim: pasien berbeda dengan kode &amp; biaya nyaris identik di faskes sama, atau episode sama ditagih ulang.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050" b="1" i="0">
                <a:solidFill>
                  <a:srgbClr val="003171"/>
                </a:solidFill>
                <a:latin typeface="Arial"/>
              </a:rPr>
              <a:t>Sinyal relasional menutup celah.  </a:t>
            </a:r>
            <a:r>
              <a:rPr sz="1000" b="0" i="0">
                <a:solidFill>
                  <a:srgbClr val="55524B"/>
                </a:solidFill>
                <a:latin typeface="Inter"/>
              </a:rPr>
              <a:t>Similarity berbasis vektor + aturan jendela 45 hari mengangkat 25/25 anomali ke top-50.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050" b="1" i="0">
                <a:solidFill>
                  <a:srgbClr val="003171"/>
                </a:solidFill>
                <a:latin typeface="Arial"/>
              </a:rPr>
              <a:t>Konteks perilaku diperlakukan jujur.  </a:t>
            </a:r>
            <a:r>
              <a:rPr sz="1000" b="0" i="0">
                <a:solidFill>
                  <a:srgbClr val="55524B"/>
                </a:solidFill>
                <a:latin typeface="Inter"/>
              </a:rPr>
              <a:t>Isolation Forest menaikkan AP +5,1 pp, namun tetap berbobot 0 sampai ablation pada dataset lebih besar membuktikan nilainya.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5349240"/>
            <a:ext cx="1105783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8" y="5458968"/>
            <a:ext cx="10692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03171"/>
                </a:solidFill>
                <a:latin typeface="Arial"/>
              </a:rPr>
              <a:t>Implikasi desain:  </a:t>
            </a:r>
            <a:r>
              <a:rPr sz="1050" b="0" i="0">
                <a:solidFill>
                  <a:srgbClr val="2B2A27"/>
                </a:solidFill>
                <a:latin typeface="Inter"/>
              </a:rPr>
              <a:t>arsitektur multi-sinyal bukan pemolesan — ia menjawab kegagalan spesifik yang terukur pada evaluasi kami sendiri.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007A70"/>
                </a:solidFill>
                <a:latin typeface="Arial"/>
              </a:rPr>
              <a:t>DAMPAK &amp; NILAI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65760"/>
            <a:ext cx="41266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 spc="160">
                <a:solidFill>
                  <a:srgbClr val="8A8780"/>
                </a:solidFill>
                <a:latin typeface="Arial"/>
              </a:rPr>
              <a:t>J-ARI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03171"/>
                </a:solidFill>
                <a:latin typeface="Arial"/>
              </a:rPr>
              <a:t>Dampak yang diusulkan — terukur, tanpa overclaim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52144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24B"/>
                </a:solidFill>
                <a:latin typeface="Inter"/>
              </a:rPr>
              <a:t>Semua perubahan dibandingkan terhadap kondisi verifikasi manual saat ini; angka final tetap berasal dari keputusan verifier.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17904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419088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9224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40">
                <a:solidFill>
                  <a:srgbClr val="8A8780"/>
                </a:solidFill>
                <a:latin typeface="Arial"/>
              </a:rPr>
              <a:t>J-ARI · JKN AGENTIC RISK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6492240"/>
            <a:ext cx="50410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140">
                <a:solidFill>
                  <a:srgbClr val="8A8780"/>
                </a:solidFill>
                <a:latin typeface="Arial"/>
              </a:rPr>
              <a:t>HEALTHKATHON 2026 · 14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83080"/>
            <a:ext cx="5074920" cy="868680"/>
          </a:xfrm>
          <a:prstGeom prst="rect">
            <a:avLst/>
          </a:prstGeom>
          <a:solidFill>
            <a:srgbClr val="F8F6F0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865376"/>
            <a:ext cx="4754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120">
                <a:solidFill>
                  <a:srgbClr val="8A8780"/>
                </a:solidFill>
                <a:latin typeface="Arial"/>
              </a:rPr>
              <a:t>TANPA J-ARI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084831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Semua klaim ditinjau dengan kedalaman sama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60720" y="2212848"/>
            <a:ext cx="310896" cy="0"/>
          </a:xfrm>
          <a:prstGeom prst="line">
            <a:avLst/>
          </a:prstGeom>
          <a:ln w="15875">
            <a:solidFill>
              <a:srgbClr val="007A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190488" y="1783080"/>
            <a:ext cx="5504688" cy="868680"/>
          </a:xfrm>
          <a:prstGeom prst="rect">
            <a:avLst/>
          </a:prstGeom>
          <a:solidFill>
            <a:srgbClr val="EFF6F5"/>
          </a:solidFill>
          <a:ln w="15875">
            <a:solidFill>
              <a:srgbClr val="00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865376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120">
                <a:solidFill>
                  <a:srgbClr val="007A70"/>
                </a:solidFill>
                <a:latin typeface="Arial"/>
              </a:rPr>
              <a:t>DENGAN J-ARI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084831"/>
            <a:ext cx="5257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2B2A27"/>
                </a:solidFill>
                <a:latin typeface="Inter"/>
              </a:rPr>
              <a:t>Verifier fokus ke top-K klaim paling berisiko — skor + alasan siap sebelum berkas dibuka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816352"/>
            <a:ext cx="5074920" cy="868680"/>
          </a:xfrm>
          <a:prstGeom prst="rect">
            <a:avLst/>
          </a:prstGeom>
          <a:solidFill>
            <a:srgbClr val="F8F6F0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2898648"/>
            <a:ext cx="4754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120">
                <a:solidFill>
                  <a:srgbClr val="8A8780"/>
                </a:solidFill>
                <a:latin typeface="Arial"/>
              </a:rPr>
              <a:t>TANPA J-ARI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3118104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Bukti tersebar di beberapa sistem &amp; berkas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60720" y="3246120"/>
            <a:ext cx="310896" cy="0"/>
          </a:xfrm>
          <a:prstGeom prst="line">
            <a:avLst/>
          </a:prstGeom>
          <a:ln w="15875">
            <a:solidFill>
              <a:srgbClr val="007A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190488" y="2816352"/>
            <a:ext cx="5504688" cy="868680"/>
          </a:xfrm>
          <a:prstGeom prst="rect">
            <a:avLst/>
          </a:prstGeom>
          <a:solidFill>
            <a:srgbClr val="EFF6F5"/>
          </a:solidFill>
          <a:ln w="15875">
            <a:solidFill>
              <a:srgbClr val="00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2898648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120">
                <a:solidFill>
                  <a:srgbClr val="007A70"/>
                </a:solidFill>
                <a:latin typeface="Arial"/>
              </a:rPr>
              <a:t>DENGAN J-ARI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118104"/>
            <a:ext cx="5257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2B2A27"/>
                </a:solidFill>
                <a:latin typeface="Inter"/>
              </a:rPr>
              <a:t>Satu halaman investigasi: SHAP, klaim serupa, narasi Bahasa Indonesia, QA panel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849624"/>
            <a:ext cx="5074920" cy="868680"/>
          </a:xfrm>
          <a:prstGeom prst="rect">
            <a:avLst/>
          </a:prstGeom>
          <a:solidFill>
            <a:srgbClr val="F8F6F0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3931920"/>
            <a:ext cx="4754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120">
                <a:solidFill>
                  <a:srgbClr val="8A8780"/>
                </a:solidFill>
                <a:latin typeface="Arial"/>
              </a:rPr>
              <a:t>TANPA J-ARI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4151376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Kebocoran umumnya baru ketahuan saat audit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60720" y="4279392"/>
            <a:ext cx="310896" cy="0"/>
          </a:xfrm>
          <a:prstGeom prst="line">
            <a:avLst/>
          </a:prstGeom>
          <a:ln w="15875">
            <a:solidFill>
              <a:srgbClr val="007A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190488" y="3849624"/>
            <a:ext cx="5504688" cy="868680"/>
          </a:xfrm>
          <a:prstGeom prst="rect">
            <a:avLst/>
          </a:prstGeom>
          <a:solidFill>
            <a:srgbClr val="EFF6F5"/>
          </a:solidFill>
          <a:ln w="15875">
            <a:solidFill>
              <a:srgbClr val="00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3931920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120">
                <a:solidFill>
                  <a:srgbClr val="007A70"/>
                </a:solidFill>
                <a:latin typeface="Arial"/>
              </a:rPr>
              <a:t>DENGAN J-ARI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4151376"/>
            <a:ext cx="5257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2B2A27"/>
                </a:solidFill>
                <a:latin typeface="Inter"/>
              </a:rPr>
              <a:t>Potensi exposure terhitung dini: Σ maks(0, klaim − benchmark atas) untuk tier High &amp; Medium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956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3171"/>
                </a:solidFill>
                <a:latin typeface="Arial"/>
              </a:rPr>
              <a:t>Penerima manfaat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5285232"/>
            <a:ext cx="257243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5376672"/>
            <a:ext cx="22981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3171"/>
                </a:solidFill>
                <a:latin typeface="Arial"/>
              </a:rPr>
              <a:t>Verifier BPJS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" y="5632704"/>
            <a:ext cx="22981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24B"/>
                </a:solidFill>
                <a:latin typeface="Inter"/>
              </a:rPr>
              <a:t>waktu fokus &amp; keputusan konsisten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95395" y="5285232"/>
            <a:ext cx="257243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32555" y="5376672"/>
            <a:ext cx="22981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3171"/>
                </a:solidFill>
                <a:latin typeface="Arial"/>
              </a:rPr>
              <a:t>Tim investigasi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2555" y="5632704"/>
            <a:ext cx="22981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24B"/>
                </a:solidFill>
                <a:latin typeface="Inter"/>
              </a:rPr>
              <a:t>pola sistemik &amp; preseden siap pakai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23863" y="5285232"/>
            <a:ext cx="257243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61023" y="5376672"/>
            <a:ext cx="22981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3171"/>
                </a:solidFill>
                <a:latin typeface="Arial"/>
              </a:rPr>
              <a:t>Faskes legitimate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5632704"/>
            <a:ext cx="22981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24B"/>
                </a:solidFill>
                <a:latin typeface="Inter"/>
              </a:rPr>
              <a:t>klarifikasi tepat sasaran, bukan tuduhan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52331" y="5285232"/>
            <a:ext cx="257243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89491" y="5376672"/>
            <a:ext cx="22981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3171"/>
                </a:solidFill>
                <a:latin typeface="Arial"/>
              </a:rPr>
              <a:t>Peserta JKN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491" y="5632704"/>
            <a:ext cx="22981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24B"/>
                </a:solidFill>
                <a:latin typeface="Inter"/>
              </a:rPr>
              <a:t>dana jaminan terjaga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007A70"/>
                </a:solidFill>
                <a:latin typeface="Arial"/>
              </a:rPr>
              <a:t>RISIKO, PRIVASI &amp; ETIKA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65760"/>
            <a:ext cx="41266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 spc="160">
                <a:solidFill>
                  <a:srgbClr val="8A8780"/>
                </a:solidFill>
                <a:latin typeface="Arial"/>
              </a:rPr>
              <a:t>J-ARI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03171"/>
                </a:solidFill>
                <a:latin typeface="Arial"/>
              </a:rPr>
              <a:t>Dipikirkan sejak awal, bukan dicatut belakangan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52144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24B"/>
                </a:solidFill>
                <a:latin typeface="Inter"/>
              </a:rPr>
              <a:t>Empat keputusan tata kelola yang menentukan desain sistem.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17904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419088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9224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40">
                <a:solidFill>
                  <a:srgbClr val="8A8780"/>
                </a:solidFill>
                <a:latin typeface="Arial"/>
              </a:rPr>
              <a:t>J-ARI · JKN AGENTIC RISK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6492240"/>
            <a:ext cx="50410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140">
                <a:solidFill>
                  <a:srgbClr val="8A8780"/>
                </a:solidFill>
                <a:latin typeface="Arial"/>
              </a:rPr>
              <a:t>HEALTHKATHON 2026 · 15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83080"/>
            <a:ext cx="5391759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01952"/>
            <a:ext cx="50625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20">
                <a:solidFill>
                  <a:srgbClr val="007A70"/>
                </a:solidFill>
                <a:latin typeface="Arial"/>
              </a:rPr>
              <a:t>PERLINDUNGAN DATA (UU PDP)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506257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>
                <a:solidFill>
                  <a:srgbClr val="55524B"/>
                </a:solidFill>
                <a:latin typeface="Inter"/>
              </a:rPr>
              <a:t>·  Tanpa nama — patient/provider/doctor berupa pseudonim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>
                <a:solidFill>
                  <a:srgbClr val="55524B"/>
                </a:solidFill>
                <a:latin typeface="Inter"/>
              </a:rPr>
              <a:t>·  Minimisasi PII: hanya field yang dibutuhkan deteksi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>
                <a:solidFill>
                  <a:srgbClr val="55524B"/>
                </a:solidFill>
                <a:latin typeface="Inter"/>
              </a:rPr>
              <a:t>·  Deploy on-premise BPJS; data tidak keluar; semua akses tercatat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1783080"/>
            <a:ext cx="5391759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7599" y="1901952"/>
            <a:ext cx="50625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20">
                <a:solidFill>
                  <a:srgbClr val="007A70"/>
                </a:solidFill>
                <a:latin typeface="Arial"/>
              </a:rPr>
              <a:t>MANUSIA DALAM KEPUTUSAN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7599" y="2240280"/>
            <a:ext cx="506257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>
                <a:solidFill>
                  <a:srgbClr val="55524B"/>
                </a:solidFill>
                <a:latin typeface="Inter"/>
              </a:rPr>
              <a:t>·  Skor = rekomendasi prioritas, bukan vonis fraud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>
                <a:solidFill>
                  <a:srgbClr val="55524B"/>
                </a:solidFill>
                <a:latin typeface="Inter"/>
              </a:rPr>
              <a:t>·  Jawaban “apakah ini fraud?” dibakukan di sistem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>
                <a:solidFill>
                  <a:srgbClr val="55524B"/>
                </a:solidFill>
                <a:latin typeface="Inter"/>
              </a:rPr>
              <a:t>·  Keputusan akhir selalu verifier — tercatat dengan identitasnya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904487"/>
            <a:ext cx="5391759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23359"/>
            <a:ext cx="50625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20">
                <a:solidFill>
                  <a:srgbClr val="007A70"/>
                </a:solidFill>
                <a:latin typeface="Arial"/>
              </a:rPr>
              <a:t>BIAS &amp; KETERBATASAN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61688"/>
            <a:ext cx="506257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>
                <a:solidFill>
                  <a:srgbClr val="55524B"/>
                </a:solidFill>
                <a:latin typeface="Inter"/>
              </a:rPr>
              <a:t>·  Model belajar dari data sintetis — validasi domain ditunda ke pilot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>
                <a:solidFill>
                  <a:srgbClr val="55524B"/>
                </a:solidFill>
                <a:latin typeface="Inter"/>
              </a:rPr>
              <a:t>·  Evidence ditampilkan terbuka agar keputusan bisa diuji &amp; dikoreksi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>
                <a:solidFill>
                  <a:srgbClr val="55524B"/>
                </a:solidFill>
                <a:latin typeface="Inter"/>
              </a:rPr>
              <a:t>·  Konteks perilaku berbobot 0 sampai ablation membuktikan nilainya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3007" y="3904487"/>
            <a:ext cx="5391759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7599" y="4023359"/>
            <a:ext cx="50625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20">
                <a:solidFill>
                  <a:srgbClr val="007A70"/>
                </a:solidFill>
                <a:latin typeface="Arial"/>
              </a:rPr>
              <a:t>MITIGASI RISIKO UTAMA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7599" y="4361688"/>
            <a:ext cx="506257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>
                <a:solidFill>
                  <a:srgbClr val="55524B"/>
                </a:solidFill>
                <a:latin typeface="Inter"/>
              </a:rPr>
              <a:t>·  False positive → jalur klarifikasi, bukan penolakan otomatis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>
                <a:solidFill>
                  <a:srgbClr val="55524B"/>
                </a:solidFill>
                <a:latin typeface="Inter"/>
              </a:rPr>
              <a:t>·  Halusinasi LLM → LLM hanya menulis narasi; tak bisa mengubah skor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>
                <a:solidFill>
                  <a:srgbClr val="55524B"/>
                </a:solidFill>
                <a:latin typeface="Inter"/>
              </a:rPr>
              <a:t>·  Drift → versioning analisis + monitoring + retraining dari keputusan verifier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9893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A8780"/>
                </a:solidFill>
                <a:latin typeface="Inter"/>
              </a:rPr>
              <a:t>Data peserta JKN riil tidak digunakan tanpa izin resmi — sesuai ketentuan Healthkathon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007A70"/>
                </a:solidFill>
                <a:latin typeface="Arial"/>
              </a:rPr>
              <a:t>RENCANA &amp; KELAYAKAN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65760"/>
            <a:ext cx="41266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 spc="160">
                <a:solidFill>
                  <a:srgbClr val="8A8780"/>
                </a:solidFill>
                <a:latin typeface="Arial"/>
              </a:rPr>
              <a:t>J-ARI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03171"/>
                </a:solidFill>
                <a:latin typeface="Arial"/>
              </a:rPr>
              <a:t>Empat fase — tiga pertama sudah dijalankan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52144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24B"/>
                </a:solidFill>
                <a:latin typeface="Inter"/>
              </a:rPr>
              <a:t>Rencana pasca-hackathon realistis: validasi domain, pilot berizin, lalu integrasi terstandar.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17904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419088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9224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40">
                <a:solidFill>
                  <a:srgbClr val="8A8780"/>
                </a:solidFill>
                <a:latin typeface="Arial"/>
              </a:rPr>
              <a:t>J-ARI · JKN AGENTIC RISK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6492240"/>
            <a:ext cx="50410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140">
                <a:solidFill>
                  <a:srgbClr val="8A8780"/>
                </a:solidFill>
                <a:latin typeface="Arial"/>
              </a:rPr>
              <a:t>HEALTHKATHON 2026 · 16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83080"/>
            <a:ext cx="2572435" cy="2880360"/>
          </a:xfrm>
          <a:prstGeom prst="rect">
            <a:avLst/>
          </a:prstGeom>
          <a:solidFill>
            <a:srgbClr val="EFF6F5"/>
          </a:solidFill>
          <a:ln w="15875">
            <a:solidFill>
              <a:srgbClr val="00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911095"/>
            <a:ext cx="227982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007A70"/>
                </a:solidFill>
                <a:latin typeface="Arial"/>
              </a:rPr>
              <a:t>FASE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148840"/>
            <a:ext cx="22798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3171"/>
                </a:solidFill>
                <a:latin typeface="Arial"/>
              </a:rPr>
              <a:t>Konsistensi domain &amp; produk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679191"/>
            <a:ext cx="227982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120">
                <a:solidFill>
                  <a:srgbClr val="007A70"/>
                </a:solidFill>
                <a:latin typeface="Arial"/>
              </a:rPr>
              <a:t>SELESAI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990088"/>
            <a:ext cx="2279827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00" b="0" i="0">
                <a:solidFill>
                  <a:srgbClr val="55524B"/>
                </a:solidFill>
                <a:latin typeface="Inter"/>
              </a:rPr>
              <a:t>·  Fokus tajam: upcoding &amp; unbundling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00" b="0" i="0">
                <a:solidFill>
                  <a:srgbClr val="55524B"/>
                </a:solidFill>
                <a:latin typeface="Inter"/>
              </a:rPr>
              <a:t>·  Alur dimulai dari incoming claims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00" b="0" i="0">
                <a:solidFill>
                  <a:srgbClr val="55524B"/>
                </a:solidFill>
                <a:latin typeface="Inter"/>
              </a:rPr>
              <a:t>·  Benchmark = pembanding peer, bukan “harga benar”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66795" y="3200400"/>
            <a:ext cx="201168" cy="0"/>
          </a:xfrm>
          <a:prstGeom prst="line">
            <a:avLst/>
          </a:prstGeom>
          <a:ln w="12700">
            <a:solidFill>
              <a:srgbClr val="B5B2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395395" y="1783080"/>
            <a:ext cx="2572435" cy="2880360"/>
          </a:xfrm>
          <a:prstGeom prst="rect">
            <a:avLst/>
          </a:prstGeom>
          <a:solidFill>
            <a:srgbClr val="EFF6F5"/>
          </a:solidFill>
          <a:ln w="15875">
            <a:solidFill>
              <a:srgbClr val="00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1699" y="1911095"/>
            <a:ext cx="227982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007A70"/>
                </a:solidFill>
                <a:latin typeface="Arial"/>
              </a:rPr>
              <a:t>FASE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1699" y="2148840"/>
            <a:ext cx="22798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3171"/>
                </a:solidFill>
                <a:latin typeface="Arial"/>
              </a:rPr>
              <a:t>Validasi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1699" y="2679191"/>
            <a:ext cx="227982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120">
                <a:solidFill>
                  <a:srgbClr val="007A70"/>
                </a:solidFill>
                <a:latin typeface="Arial"/>
              </a:rPr>
              <a:t>SELESAI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1699" y="2990088"/>
            <a:ext cx="2279827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00" b="0" i="0">
                <a:solidFill>
                  <a:srgbClr val="55524B"/>
                </a:solidFill>
                <a:latin typeface="Inter"/>
              </a:rPr>
              <a:t>·  Blind test held-out dengan seed berbeda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00" b="0" i="0">
                <a:solidFill>
                  <a:srgbClr val="55524B"/>
                </a:solidFill>
                <a:latin typeface="Inter"/>
              </a:rPr>
              <a:t>·  Ablation: kontribusi tiap sinyal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00" b="0" i="0">
                <a:solidFill>
                  <a:srgbClr val="55524B"/>
                </a:solidFill>
                <a:latin typeface="Inter"/>
              </a:rPr>
              <a:t>·  Precision@K · Recall@K · PR-AUC · latensi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95263" y="3200400"/>
            <a:ext cx="201168" cy="0"/>
          </a:xfrm>
          <a:prstGeom prst="line">
            <a:avLst/>
          </a:prstGeom>
          <a:ln w="12700">
            <a:solidFill>
              <a:srgbClr val="B5B2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223863" y="1783080"/>
            <a:ext cx="2572435" cy="2880360"/>
          </a:xfrm>
          <a:prstGeom prst="rect">
            <a:avLst/>
          </a:prstGeom>
          <a:solidFill>
            <a:srgbClr val="EFF6F5"/>
          </a:solidFill>
          <a:ln w="15875">
            <a:solidFill>
              <a:srgbClr val="00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0167" y="1911095"/>
            <a:ext cx="227982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007A70"/>
                </a:solidFill>
                <a:latin typeface="Arial"/>
              </a:rPr>
              <a:t>FASE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2148840"/>
            <a:ext cx="22798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3171"/>
                </a:solidFill>
                <a:latin typeface="Arial"/>
              </a:rPr>
              <a:t>Demo &amp; tata kelola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0167" y="2679191"/>
            <a:ext cx="227982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120">
                <a:solidFill>
                  <a:srgbClr val="007A70"/>
                </a:solidFill>
                <a:latin typeface="Arial"/>
              </a:rPr>
              <a:t>SELESAI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2990088"/>
            <a:ext cx="2279827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00" b="0" i="0">
                <a:solidFill>
                  <a:srgbClr val="55524B"/>
                </a:solidFill>
                <a:latin typeface="Inter"/>
              </a:rPr>
              <a:t>·  Demo end-to-end offline satu alur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00" b="0" i="0">
                <a:solidFill>
                  <a:srgbClr val="55524B"/>
                </a:solidFill>
                <a:latin typeface="Inter"/>
              </a:rPr>
              <a:t>·  Audit trail &amp; disclaimer lengkap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00" b="0" i="0">
                <a:solidFill>
                  <a:srgbClr val="55524B"/>
                </a:solidFill>
                <a:latin typeface="Inter"/>
              </a:rPr>
              <a:t>·  Batasan sistem didokumentasikan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23731" y="3200400"/>
            <a:ext cx="201168" cy="0"/>
          </a:xfrm>
          <a:prstGeom prst="line">
            <a:avLst/>
          </a:prstGeom>
          <a:ln w="12700">
            <a:solidFill>
              <a:srgbClr val="B5B2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9052331" y="1783080"/>
            <a:ext cx="2572435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98635" y="1911095"/>
            <a:ext cx="227982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8A8780"/>
                </a:solidFill>
                <a:latin typeface="Arial"/>
              </a:rPr>
              <a:t>FASE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8635" y="2148840"/>
            <a:ext cx="22798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3171"/>
                </a:solidFill>
                <a:latin typeface="Arial"/>
              </a:rPr>
              <a:t>Pasca-hackathon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98635" y="2679191"/>
            <a:ext cx="227982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120">
                <a:solidFill>
                  <a:srgbClr val="8A8780"/>
                </a:solidFill>
                <a:latin typeface="Arial"/>
              </a:rPr>
              <a:t>RENCANA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98635" y="2990088"/>
            <a:ext cx="2279827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00" b="0" i="0">
                <a:solidFill>
                  <a:srgbClr val="55524B"/>
                </a:solidFill>
                <a:latin typeface="Inter"/>
              </a:rPr>
              <a:t>·  Validasi bersama domain expert BPJS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00" b="0" i="0">
                <a:solidFill>
                  <a:srgbClr val="55524B"/>
                </a:solidFill>
                <a:latin typeface="Inter"/>
              </a:rPr>
              <a:t>·  Pilot dengan data berizin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900" b="0" i="0">
                <a:solidFill>
                  <a:srgbClr val="55524B"/>
                </a:solidFill>
                <a:latin typeface="Inter"/>
              </a:rPr>
              <a:t>·  Adapter SATUSEHAT/FHIR → feedback loop retraining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983480"/>
            <a:ext cx="11057839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5102352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20">
                <a:solidFill>
                  <a:srgbClr val="003171"/>
                </a:solidFill>
                <a:latin typeface="Arial"/>
              </a:rPr>
              <a:t>SUMBER DAYA YANG DIBUTUHKAN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5394960"/>
            <a:ext cx="2788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03171"/>
                </a:solidFill>
                <a:latin typeface="Arial"/>
              </a:rPr>
              <a:t>Tim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614416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24B"/>
                </a:solidFill>
                <a:latin typeface="Inter"/>
              </a:rPr>
              <a:t>1–3 orang — ML, domain klaim JKN, full-stack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21608" y="5394960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03171"/>
                </a:solidFill>
                <a:latin typeface="Arial"/>
              </a:rPr>
              <a:t>Teknologi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21608" y="5614416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24B"/>
                </a:solidFill>
                <a:latin typeface="Inter"/>
              </a:rPr>
              <a:t>stack open-source, tanpa lisensi berkelanjutan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56248" y="5394960"/>
            <a:ext cx="2331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03171"/>
                </a:solidFill>
                <a:latin typeface="Arial"/>
              </a:rPr>
              <a:t>Infrastruktur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56248" y="5614416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24B"/>
                </a:solidFill>
                <a:latin typeface="Inter"/>
              </a:rPr>
              <a:t>1 GPU 8 GB untuk pilot kecil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70848" y="5394960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03171"/>
                </a:solidFill>
                <a:latin typeface="Arial"/>
              </a:rPr>
              <a:t>Prasyarat kunci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0848" y="561441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24B"/>
                </a:solidFill>
                <a:latin typeface="Inter"/>
              </a:rPr>
              <a:t>izin data &amp; mitra domain BPJS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007A70"/>
                </a:solidFill>
                <a:latin typeface="Arial"/>
              </a:rPr>
              <a:t>PROFIL TIM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65760"/>
            <a:ext cx="41266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 spc="160">
                <a:solidFill>
                  <a:srgbClr val="8A8780"/>
                </a:solidFill>
                <a:latin typeface="Arial"/>
              </a:rPr>
              <a:t>J-ARI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03171"/>
                </a:solidFill>
                <a:latin typeface="Arial"/>
              </a:rPr>
              <a:t>Tim yang membangun J-ARI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52144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524B"/>
                </a:solidFill>
                <a:latin typeface="Inter"/>
              </a:rPr>
              <a:t>Komposisi keahlian yang menutupi tiga hal sekaligus: ML engineering, domain klaim JKN, dan full-stack development.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17904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419088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9224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40">
                <a:solidFill>
                  <a:srgbClr val="8A8780"/>
                </a:solidFill>
                <a:latin typeface="Arial"/>
              </a:rPr>
              <a:t>J-ARI · JKN AGENTIC RISK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6492240"/>
            <a:ext cx="50410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140">
                <a:solidFill>
                  <a:srgbClr val="8A8780"/>
                </a:solidFill>
                <a:latin typeface="Arial"/>
              </a:rPr>
              <a:t>HEALTHKATHON 2026 · 17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83080"/>
            <a:ext cx="3503066" cy="2103120"/>
          </a:xfrm>
          <a:prstGeom prst="rect">
            <a:avLst/>
          </a:prstGeom>
          <a:solidFill>
            <a:srgbClr val="EFF6F5"/>
          </a:solidFill>
          <a:ln w="15875">
            <a:solidFill>
              <a:srgbClr val="00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317388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3171"/>
                </a:solidFill>
                <a:latin typeface="Arial"/>
              </a:rPr>
              <a:t>Ryu Adhi Nugroho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67712"/>
            <a:ext cx="3173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07A70"/>
                </a:solidFill>
                <a:latin typeface="Inter"/>
              </a:rPr>
              <a:t>Lead · ML &amp; System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06040"/>
            <a:ext cx="317388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Merancang pipeline multi-agent, risk engine deterministik, dan kerangka evaluasi anti-tautologi.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4314" y="1783080"/>
            <a:ext cx="3503066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8906" y="1920240"/>
            <a:ext cx="317388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3171"/>
                </a:solidFill>
                <a:latin typeface="Arial"/>
              </a:rPr>
              <a:t>[Nama Anggota 2]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8906" y="2267712"/>
            <a:ext cx="3173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5524B"/>
                </a:solidFill>
                <a:latin typeface="Inter"/>
              </a:rPr>
              <a:t>[Peran — mis. Domain &amp; Product]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8906" y="2606040"/>
            <a:ext cx="317388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[Keahlian: pemahaman alur klaim JKN/INA-CBG, product design, kebutuhan verifier.]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21700" y="1783080"/>
            <a:ext cx="3503066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6292" y="1920240"/>
            <a:ext cx="317388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3171"/>
                </a:solidFill>
                <a:latin typeface="Arial"/>
              </a:rPr>
              <a:t>[Nama Anggota 3]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292" y="2267712"/>
            <a:ext cx="3173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5524B"/>
                </a:solidFill>
                <a:latin typeface="Inter"/>
              </a:rPr>
              <a:t>[Peran — mis. Full-stack &amp; Data]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292" y="2606040"/>
            <a:ext cx="317388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[Keahlian: frontend React, backend FastAPI, pipeline data &amp; evaluasi.]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2062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3171"/>
                </a:solidFill>
                <a:latin typeface="Arial"/>
              </a:rPr>
              <a:t>Mengapa tim ini mampu mengeksekusi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57200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3171"/>
                </a:solidFill>
                <a:latin typeface="Arial"/>
              </a:rPr>
              <a:t>Dibangun dalam satu iterasi disiplin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58768" y="4581144"/>
            <a:ext cx="7772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PRD, arsitektur, logika bisnis, dan evaluasi terdokumentasi serta konsisten dengan kode yang berjalan.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047488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3171"/>
                </a:solidFill>
                <a:latin typeface="Arial"/>
              </a:rPr>
              <a:t>Evaluasi bukan pelengkap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58768" y="5056631"/>
            <a:ext cx="7772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Blind test, ablation, dan metrik dijalankan otomatis — hasil apa adanya dipublikasikan di dalam produk.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522975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3171"/>
                </a:solidFill>
                <a:latin typeface="Arial"/>
              </a:rPr>
              <a:t>Domain dipelajari secara serius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58768" y="5532119"/>
            <a:ext cx="7772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Logika INA-CBG, pola upcoding, dan alur verifier diterjemahkan langsung menjadi aturan &amp; evidence sistem.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007A70"/>
                </a:solidFill>
                <a:latin typeface="Arial"/>
              </a:rPr>
              <a:t>PENUTUP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65760"/>
            <a:ext cx="41266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 spc="160">
                <a:solidFill>
                  <a:srgbClr val="8A8780"/>
                </a:solidFill>
                <a:latin typeface="Arial"/>
              </a:rPr>
              <a:t>J-ARI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03171"/>
                </a:solidFill>
                <a:latin typeface="Arial"/>
              </a:rPr>
              <a:t>Deteksi yang lebih cerdas, JKN yang lebih terlindungi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517904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6419088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92240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40">
                <a:solidFill>
                  <a:srgbClr val="8A8780"/>
                </a:solidFill>
                <a:latin typeface="Arial"/>
              </a:rPr>
              <a:t>J-ARI · JKN AGENTIC RISK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6492240"/>
            <a:ext cx="50410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140">
                <a:solidFill>
                  <a:srgbClr val="8A8780"/>
                </a:solidFill>
                <a:latin typeface="Arial"/>
              </a:rPr>
              <a:t>HEALTHKATHON 2026 · 18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03171"/>
                </a:solidFill>
                <a:latin typeface="Arial"/>
              </a:rPr>
              <a:t>J-ARI tidak menentukan fraud dan tidak menggantikan verifier.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60604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07A70"/>
                </a:solidFill>
                <a:latin typeface="Arial"/>
              </a:rPr>
              <a:t>J-ARI memastikan klaim yang paling perlu diperiksa diperiksa lebih dahulu — dan pemeriksa itu punya alasannya.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" y="3703320"/>
            <a:ext cx="11057839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6928" y="3931920"/>
            <a:ext cx="25724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03171"/>
                </a:solidFill>
                <a:latin typeface="Arial"/>
              </a:rPr>
              <a:t>Deterministik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224528"/>
            <a:ext cx="25724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Skor &amp; tier dihitung murni matematis — LLM tidak pernah menyentuhnya.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5395" y="3931920"/>
            <a:ext cx="25724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03171"/>
                </a:solidFill>
                <a:latin typeface="Arial"/>
              </a:rPr>
              <a:t>Evidence-first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5395" y="4224528"/>
            <a:ext cx="25724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Setiap prioritas bisa ditelusuri ke aturan atau output model.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3863" y="3931920"/>
            <a:ext cx="25724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03171"/>
                </a:solidFill>
                <a:latin typeface="Arial"/>
              </a:rPr>
              <a:t>Human-led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3863" y="4224528"/>
            <a:ext cx="25724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AI membantu memahami; keputusan tetap milik verifier.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331" y="3931920"/>
            <a:ext cx="25724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03171"/>
                </a:solidFill>
                <a:latin typeface="Arial"/>
              </a:rPr>
              <a:t>Data-responsible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331" y="4224528"/>
            <a:ext cx="25724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5524B"/>
                </a:solidFill>
                <a:latin typeface="Inter"/>
              </a:rPr>
              <a:t>Data sintetis/berizin, pseudonim, on-premise, teraudit.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257800"/>
            <a:ext cx="11057839" cy="777240"/>
          </a:xfrm>
          <a:prstGeom prst="rect">
            <a:avLst/>
          </a:prstGeom>
          <a:solidFill>
            <a:srgbClr val="EFF6F5"/>
          </a:solidFill>
          <a:ln w="15875">
            <a:solidFill>
              <a:srgbClr val="00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39496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40">
                <a:solidFill>
                  <a:srgbClr val="007A70"/>
                </a:solidFill>
                <a:latin typeface="Arial"/>
              </a:rPr>
              <a:t>LANGKAH BERIKUT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632704"/>
            <a:ext cx="10692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B2A27"/>
                </a:solidFill>
                <a:latin typeface="Inter"/>
              </a:rPr>
              <a:t>Pilot terbuka bersama verifier BPJS Kesehatan — dengan data berizin, ukuran waktu review sebelum/sesudah, dan validasi domain expert.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